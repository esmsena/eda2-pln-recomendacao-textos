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League Spartan" charset="1" panose="00000800000000000000"/>
      <p:regular r:id="rId27"/>
    </p:embeddedFont>
    <p:embeddedFont>
      <p:font typeface="Poppins Semi-Bold" charset="1" panose="00000700000000000000"/>
      <p:regular r:id="rId28"/>
    </p:embeddedFont>
    <p:embeddedFont>
      <p:font typeface="Poppins Light" charset="1" panose="00000400000000000000"/>
      <p:regular r:id="rId29"/>
    </p:embeddedFont>
    <p:embeddedFont>
      <p:font typeface="Poppins Bold" charset="1" panose="00000800000000000000"/>
      <p:regular r:id="rId30"/>
    </p:embeddedFont>
    <p:embeddedFont>
      <p:font typeface="Poppins" charset="1" panose="00000500000000000000"/>
      <p:regular r:id="rId31"/>
    </p:embeddedFont>
    <p:embeddedFont>
      <p:font typeface="Poppins Medium" charset="1" panose="000006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13" Target="../media/image1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png" Type="http://schemas.openxmlformats.org/officeDocument/2006/relationships/image"/><Relationship Id="rId12" Target="../media/image3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100000">
            <a:off x="13356027" y="289526"/>
            <a:ext cx="9399159" cy="9375661"/>
          </a:xfrm>
          <a:custGeom>
            <a:avLst/>
            <a:gdLst/>
            <a:ahLst/>
            <a:cxnLst/>
            <a:rect r="r" b="b" t="t" l="l"/>
            <a:pathLst>
              <a:path h="9375661" w="9399159">
                <a:moveTo>
                  <a:pt x="0" y="0"/>
                </a:moveTo>
                <a:lnTo>
                  <a:pt x="9399159" y="0"/>
                </a:lnTo>
                <a:lnTo>
                  <a:pt x="9399159" y="9375661"/>
                </a:lnTo>
                <a:lnTo>
                  <a:pt x="0" y="9375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31768" y="-284951"/>
            <a:ext cx="9947636" cy="10856902"/>
          </a:xfrm>
          <a:custGeom>
            <a:avLst/>
            <a:gdLst/>
            <a:ahLst/>
            <a:cxnLst/>
            <a:rect r="r" b="b" t="t" l="l"/>
            <a:pathLst>
              <a:path h="10856902" w="9947636">
                <a:moveTo>
                  <a:pt x="0" y="0"/>
                </a:moveTo>
                <a:lnTo>
                  <a:pt x="9947636" y="0"/>
                </a:lnTo>
                <a:lnTo>
                  <a:pt x="9947636" y="10856902"/>
                </a:lnTo>
                <a:lnTo>
                  <a:pt x="0" y="10856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580361" y="2229249"/>
            <a:ext cx="6697989" cy="6178895"/>
          </a:xfrm>
          <a:custGeom>
            <a:avLst/>
            <a:gdLst/>
            <a:ahLst/>
            <a:cxnLst/>
            <a:rect r="r" b="b" t="t" l="l"/>
            <a:pathLst>
              <a:path h="6178895" w="6697989">
                <a:moveTo>
                  <a:pt x="0" y="0"/>
                </a:moveTo>
                <a:lnTo>
                  <a:pt x="6697989" y="0"/>
                </a:lnTo>
                <a:lnTo>
                  <a:pt x="6697989" y="6178896"/>
                </a:lnTo>
                <a:lnTo>
                  <a:pt x="0" y="61788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481197"/>
            <a:ext cx="9103735" cy="331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12"/>
              </a:lnSpc>
            </a:pPr>
            <a:r>
              <a:rPr lang="en-US" sz="720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SISTEMA DE RECOMENDAÇÃO DE REDAÇÕES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047750"/>
            <a:ext cx="7814088" cy="44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3040" spc="-60" b="true">
                <a:solidFill>
                  <a:srgbClr val="004AA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Estruturas de Dados 2 - Tema 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100000">
            <a:off x="13356027" y="289526"/>
            <a:ext cx="9399159" cy="9375661"/>
          </a:xfrm>
          <a:custGeom>
            <a:avLst/>
            <a:gdLst/>
            <a:ahLst/>
            <a:cxnLst/>
            <a:rect r="r" b="b" t="t" l="l"/>
            <a:pathLst>
              <a:path h="9375661" w="9399159">
                <a:moveTo>
                  <a:pt x="0" y="0"/>
                </a:moveTo>
                <a:lnTo>
                  <a:pt x="9399159" y="0"/>
                </a:lnTo>
                <a:lnTo>
                  <a:pt x="9399159" y="9375661"/>
                </a:lnTo>
                <a:lnTo>
                  <a:pt x="0" y="9375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64249" y="-192040"/>
            <a:ext cx="9947636" cy="10856902"/>
          </a:xfrm>
          <a:custGeom>
            <a:avLst/>
            <a:gdLst/>
            <a:ahLst/>
            <a:cxnLst/>
            <a:rect r="r" b="b" t="t" l="l"/>
            <a:pathLst>
              <a:path h="10856902" w="9947636">
                <a:moveTo>
                  <a:pt x="0" y="0"/>
                </a:moveTo>
                <a:lnTo>
                  <a:pt x="9947636" y="0"/>
                </a:lnTo>
                <a:lnTo>
                  <a:pt x="9947636" y="10856902"/>
                </a:lnTo>
                <a:lnTo>
                  <a:pt x="0" y="10856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4093879"/>
            <a:ext cx="3064407" cy="3064407"/>
            <a:chOff x="0" y="0"/>
            <a:chExt cx="13716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5"/>
              <a:stretch>
                <a:fillRect l="-16680" t="0" r="-16680" b="0"/>
              </a:stretch>
            </a:blipFill>
            <a:ln w="76200" cap="sq">
              <a:solidFill>
                <a:srgbClr val="023A83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5281545" y="4093879"/>
            <a:ext cx="3064407" cy="3064407"/>
            <a:chOff x="0" y="0"/>
            <a:chExt cx="13716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44365" r="0" b="-72951"/>
              </a:stretch>
            </a:blipFill>
            <a:ln w="76200" cap="sq">
              <a:solidFill>
                <a:srgbClr val="023A83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534390" y="4093879"/>
            <a:ext cx="3064407" cy="3064407"/>
            <a:chOff x="0" y="0"/>
            <a:chExt cx="13716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4033" r="0" b="-29299"/>
              </a:stretch>
            </a:blipFill>
            <a:ln w="76200" cap="sq">
              <a:solidFill>
                <a:srgbClr val="023A83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787236" y="4093879"/>
            <a:ext cx="3064407" cy="3064407"/>
            <a:chOff x="0" y="0"/>
            <a:chExt cx="13716000" cy="1371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8"/>
              <a:stretch>
                <a:fillRect l="-8090" t="-6431" r="-61146" b="-20495"/>
              </a:stretch>
            </a:blipFill>
            <a:ln w="76200" cap="sq">
              <a:solidFill>
                <a:srgbClr val="023A83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5953889" y="1439971"/>
            <a:ext cx="6380221" cy="70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5366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MEMBROS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59247" y="7510387"/>
            <a:ext cx="200331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 spc="-48">
                <a:solidFill>
                  <a:srgbClr val="023A83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Allan Kelvin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12092" y="7510387"/>
            <a:ext cx="200331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 spc="-48">
                <a:solidFill>
                  <a:srgbClr val="023A83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Esther Sena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62592" y="7510387"/>
            <a:ext cx="200331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 spc="-48">
                <a:solidFill>
                  <a:srgbClr val="023A83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Nicole Jovita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48681" y="7510387"/>
            <a:ext cx="2941517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 spc="-48">
                <a:solidFill>
                  <a:srgbClr val="023A83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Yasmim de Souza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100000">
            <a:off x="13356027" y="289526"/>
            <a:ext cx="9399159" cy="9375661"/>
          </a:xfrm>
          <a:custGeom>
            <a:avLst/>
            <a:gdLst/>
            <a:ahLst/>
            <a:cxnLst/>
            <a:rect r="r" b="b" t="t" l="l"/>
            <a:pathLst>
              <a:path h="9375661" w="9399159">
                <a:moveTo>
                  <a:pt x="0" y="0"/>
                </a:moveTo>
                <a:lnTo>
                  <a:pt x="9399159" y="0"/>
                </a:lnTo>
                <a:lnTo>
                  <a:pt x="9399159" y="9375661"/>
                </a:lnTo>
                <a:lnTo>
                  <a:pt x="0" y="9375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31768" y="-284951"/>
            <a:ext cx="9947636" cy="10856902"/>
          </a:xfrm>
          <a:custGeom>
            <a:avLst/>
            <a:gdLst/>
            <a:ahLst/>
            <a:cxnLst/>
            <a:rect r="r" b="b" t="t" l="l"/>
            <a:pathLst>
              <a:path h="10856902" w="9947636">
                <a:moveTo>
                  <a:pt x="0" y="0"/>
                </a:moveTo>
                <a:lnTo>
                  <a:pt x="9947636" y="0"/>
                </a:lnTo>
                <a:lnTo>
                  <a:pt x="9947636" y="10856902"/>
                </a:lnTo>
                <a:lnTo>
                  <a:pt x="0" y="10856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7427372"/>
            <a:ext cx="551594" cy="895036"/>
          </a:xfrm>
          <a:custGeom>
            <a:avLst/>
            <a:gdLst/>
            <a:ahLst/>
            <a:cxnLst/>
            <a:rect r="r" b="b" t="t" l="l"/>
            <a:pathLst>
              <a:path h="895036" w="551594">
                <a:moveTo>
                  <a:pt x="0" y="0"/>
                </a:moveTo>
                <a:lnTo>
                  <a:pt x="551594" y="0"/>
                </a:lnTo>
                <a:lnTo>
                  <a:pt x="551594" y="895036"/>
                </a:lnTo>
                <a:lnTo>
                  <a:pt x="0" y="8950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31265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3782" y="5617489"/>
            <a:ext cx="6095139" cy="2580602"/>
            <a:chOff x="0" y="0"/>
            <a:chExt cx="1755471" cy="7432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5471" cy="743243"/>
            </a:xfrm>
            <a:custGeom>
              <a:avLst/>
              <a:gdLst/>
              <a:ahLst/>
              <a:cxnLst/>
              <a:rect r="r" b="b" t="t" l="l"/>
              <a:pathLst>
                <a:path h="743243" w="1755471">
                  <a:moveTo>
                    <a:pt x="64779" y="0"/>
                  </a:moveTo>
                  <a:lnTo>
                    <a:pt x="1690692" y="0"/>
                  </a:lnTo>
                  <a:cubicBezTo>
                    <a:pt x="1726468" y="0"/>
                    <a:pt x="1755471" y="29003"/>
                    <a:pt x="1755471" y="64779"/>
                  </a:cubicBezTo>
                  <a:lnTo>
                    <a:pt x="1755471" y="678464"/>
                  </a:lnTo>
                  <a:cubicBezTo>
                    <a:pt x="1755471" y="714241"/>
                    <a:pt x="1726468" y="743243"/>
                    <a:pt x="1690692" y="743243"/>
                  </a:cubicBezTo>
                  <a:lnTo>
                    <a:pt x="64779" y="743243"/>
                  </a:lnTo>
                  <a:cubicBezTo>
                    <a:pt x="29003" y="743243"/>
                    <a:pt x="0" y="714241"/>
                    <a:pt x="0" y="678464"/>
                  </a:cubicBezTo>
                  <a:lnTo>
                    <a:pt x="0" y="64779"/>
                  </a:lnTo>
                  <a:cubicBezTo>
                    <a:pt x="0" y="29003"/>
                    <a:pt x="29003" y="0"/>
                    <a:pt x="6477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755471" cy="8099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4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620880" y="1178717"/>
            <a:ext cx="7969412" cy="7929565"/>
          </a:xfrm>
          <a:custGeom>
            <a:avLst/>
            <a:gdLst/>
            <a:ahLst/>
            <a:cxnLst/>
            <a:rect r="r" b="b" t="t" l="l"/>
            <a:pathLst>
              <a:path h="7929565" w="7969412">
                <a:moveTo>
                  <a:pt x="0" y="0"/>
                </a:moveTo>
                <a:lnTo>
                  <a:pt x="7969412" y="0"/>
                </a:lnTo>
                <a:lnTo>
                  <a:pt x="7969412" y="7929566"/>
                </a:lnTo>
                <a:lnTo>
                  <a:pt x="0" y="79295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13782" y="2069367"/>
            <a:ext cx="6380221" cy="709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5366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3782" y="3134345"/>
            <a:ext cx="7036948" cy="200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1041" indent="-245520" lvl="1">
              <a:lnSpc>
                <a:spcPts val="3184"/>
              </a:lnSpc>
              <a:buFont typeface="Arial"/>
              <a:buChar char="•"/>
            </a:pPr>
            <a:r>
              <a:rPr lang="en-US" sz="2274" spc="-45">
                <a:solidFill>
                  <a:srgbClr val="023A83"/>
                </a:solidFill>
                <a:latin typeface="Poppins Light"/>
                <a:ea typeface="Poppins Light"/>
                <a:cs typeface="Poppins Light"/>
                <a:sym typeface="Poppins Light"/>
              </a:rPr>
              <a:t>Grande quantidade de redações disponíveis.</a:t>
            </a:r>
          </a:p>
          <a:p>
            <a:pPr algn="l" marL="491041" indent="-245520" lvl="1">
              <a:lnSpc>
                <a:spcPts val="3184"/>
              </a:lnSpc>
              <a:buFont typeface="Arial"/>
              <a:buChar char="•"/>
            </a:pPr>
            <a:r>
              <a:rPr lang="en-US" sz="2274" spc="-45">
                <a:solidFill>
                  <a:srgbClr val="023A83"/>
                </a:solidFill>
                <a:latin typeface="Poppins Light"/>
                <a:ea typeface="Poppins Light"/>
                <a:cs typeface="Poppins Light"/>
                <a:sym typeface="Poppins Light"/>
              </a:rPr>
              <a:t>Dificuldade em encontrar conteúdos relevantes.</a:t>
            </a:r>
          </a:p>
          <a:p>
            <a:pPr algn="l" marL="491041" indent="-245520" lvl="1">
              <a:lnSpc>
                <a:spcPts val="3184"/>
              </a:lnSpc>
              <a:buFont typeface="Arial"/>
              <a:buChar char="•"/>
            </a:pPr>
            <a:r>
              <a:rPr lang="en-US" sz="2274" spc="-45">
                <a:solidFill>
                  <a:srgbClr val="023A83"/>
                </a:solidFill>
                <a:latin typeface="Poppins Light"/>
                <a:ea typeface="Poppins Light"/>
                <a:cs typeface="Poppins Light"/>
                <a:sym typeface="Poppins Light"/>
              </a:rPr>
              <a:t>Falta de personalização.</a:t>
            </a:r>
          </a:p>
          <a:p>
            <a:pPr algn="l" marL="491041" indent="-245520" lvl="1">
              <a:lnSpc>
                <a:spcPts val="3184"/>
              </a:lnSpc>
              <a:spcBef>
                <a:spcPct val="0"/>
              </a:spcBef>
              <a:buFont typeface="Arial"/>
              <a:buChar char="•"/>
            </a:pPr>
            <a:r>
              <a:rPr lang="en-US" sz="2274" spc="-45">
                <a:solidFill>
                  <a:srgbClr val="023A83"/>
                </a:solidFill>
                <a:latin typeface="Poppins Light"/>
                <a:ea typeface="Poppins Light"/>
                <a:cs typeface="Poppins Light"/>
                <a:sym typeface="Poppins Light"/>
              </a:rPr>
              <a:t>Necessidade de facilitar o acesso ao acervo.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71249" y="6612503"/>
            <a:ext cx="4980206" cy="111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1"/>
              </a:lnSpc>
            </a:pPr>
            <a:r>
              <a:rPr lang="en-US" sz="2079" spc="-41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Desenvolver um sistema capaz de recomendar redações adequadas ao perfil e histórico do usuário.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71249" y="6001429"/>
            <a:ext cx="498020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 spc="-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Solução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100000">
            <a:off x="13769846" y="578530"/>
            <a:ext cx="9399159" cy="9375661"/>
          </a:xfrm>
          <a:custGeom>
            <a:avLst/>
            <a:gdLst/>
            <a:ahLst/>
            <a:cxnLst/>
            <a:rect r="r" b="b" t="t" l="l"/>
            <a:pathLst>
              <a:path h="9375661" w="9399159">
                <a:moveTo>
                  <a:pt x="0" y="0"/>
                </a:moveTo>
                <a:lnTo>
                  <a:pt x="9399160" y="0"/>
                </a:lnTo>
                <a:lnTo>
                  <a:pt x="9399160" y="9375661"/>
                </a:lnTo>
                <a:lnTo>
                  <a:pt x="0" y="9375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737869" y="7612322"/>
            <a:ext cx="7286053" cy="1645978"/>
            <a:chOff x="0" y="0"/>
            <a:chExt cx="1918961" cy="4335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18961" cy="433509"/>
            </a:xfrm>
            <a:custGeom>
              <a:avLst/>
              <a:gdLst/>
              <a:ahLst/>
              <a:cxnLst/>
              <a:rect r="r" b="b" t="t" l="l"/>
              <a:pathLst>
                <a:path h="433509" w="1918961">
                  <a:moveTo>
                    <a:pt x="17001" y="0"/>
                  </a:moveTo>
                  <a:lnTo>
                    <a:pt x="1901959" y="0"/>
                  </a:lnTo>
                  <a:cubicBezTo>
                    <a:pt x="1911349" y="0"/>
                    <a:pt x="1918961" y="7612"/>
                    <a:pt x="1918961" y="17001"/>
                  </a:cubicBezTo>
                  <a:lnTo>
                    <a:pt x="1918961" y="416508"/>
                  </a:lnTo>
                  <a:cubicBezTo>
                    <a:pt x="1918961" y="425897"/>
                    <a:pt x="1911349" y="433509"/>
                    <a:pt x="1901959" y="433509"/>
                  </a:cubicBezTo>
                  <a:lnTo>
                    <a:pt x="17001" y="433509"/>
                  </a:lnTo>
                  <a:cubicBezTo>
                    <a:pt x="7612" y="433509"/>
                    <a:pt x="0" y="425897"/>
                    <a:pt x="0" y="416508"/>
                  </a:cubicBezTo>
                  <a:lnTo>
                    <a:pt x="0" y="17001"/>
                  </a:lnTo>
                  <a:cubicBezTo>
                    <a:pt x="0" y="7612"/>
                    <a:pt x="7612" y="0"/>
                    <a:pt x="17001" y="0"/>
                  </a:cubicBezTo>
                  <a:close/>
                </a:path>
              </a:pathLst>
            </a:custGeom>
            <a:solidFill>
              <a:srgbClr val="023A8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918961" cy="5001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535937"/>
            <a:ext cx="3586540" cy="4020724"/>
            <a:chOff x="0" y="0"/>
            <a:chExt cx="1032965" cy="11580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2965" cy="1158015"/>
            </a:xfrm>
            <a:custGeom>
              <a:avLst/>
              <a:gdLst/>
              <a:ahLst/>
              <a:cxnLst/>
              <a:rect r="r" b="b" t="t" l="l"/>
              <a:pathLst>
                <a:path h="1158015" w="1032965">
                  <a:moveTo>
                    <a:pt x="110089" y="0"/>
                  </a:moveTo>
                  <a:lnTo>
                    <a:pt x="922876" y="0"/>
                  </a:lnTo>
                  <a:cubicBezTo>
                    <a:pt x="952074" y="0"/>
                    <a:pt x="980075" y="11599"/>
                    <a:pt x="1000721" y="32244"/>
                  </a:cubicBezTo>
                  <a:cubicBezTo>
                    <a:pt x="1021366" y="52890"/>
                    <a:pt x="1032965" y="80891"/>
                    <a:pt x="1032965" y="110089"/>
                  </a:cubicBezTo>
                  <a:lnTo>
                    <a:pt x="1032965" y="1047926"/>
                  </a:lnTo>
                  <a:cubicBezTo>
                    <a:pt x="1032965" y="1108727"/>
                    <a:pt x="983677" y="1158015"/>
                    <a:pt x="922876" y="1158015"/>
                  </a:cubicBezTo>
                  <a:lnTo>
                    <a:pt x="110089" y="1158015"/>
                  </a:lnTo>
                  <a:cubicBezTo>
                    <a:pt x="80891" y="1158015"/>
                    <a:pt x="52890" y="1146417"/>
                    <a:pt x="32244" y="1125771"/>
                  </a:cubicBezTo>
                  <a:cubicBezTo>
                    <a:pt x="11599" y="1105125"/>
                    <a:pt x="0" y="1077124"/>
                    <a:pt x="0" y="1047926"/>
                  </a:cubicBezTo>
                  <a:lnTo>
                    <a:pt x="0" y="110089"/>
                  </a:lnTo>
                  <a:cubicBezTo>
                    <a:pt x="0" y="49288"/>
                    <a:pt x="49288" y="0"/>
                    <a:pt x="11008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032965" cy="1224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830234" y="2535937"/>
            <a:ext cx="3586540" cy="4020724"/>
            <a:chOff x="0" y="0"/>
            <a:chExt cx="1032965" cy="11580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32965" cy="1158015"/>
            </a:xfrm>
            <a:custGeom>
              <a:avLst/>
              <a:gdLst/>
              <a:ahLst/>
              <a:cxnLst/>
              <a:rect r="r" b="b" t="t" l="l"/>
              <a:pathLst>
                <a:path h="1158015" w="1032965">
                  <a:moveTo>
                    <a:pt x="110089" y="0"/>
                  </a:moveTo>
                  <a:lnTo>
                    <a:pt x="922876" y="0"/>
                  </a:lnTo>
                  <a:cubicBezTo>
                    <a:pt x="952074" y="0"/>
                    <a:pt x="980075" y="11599"/>
                    <a:pt x="1000721" y="32244"/>
                  </a:cubicBezTo>
                  <a:cubicBezTo>
                    <a:pt x="1021366" y="52890"/>
                    <a:pt x="1032965" y="80891"/>
                    <a:pt x="1032965" y="110089"/>
                  </a:cubicBezTo>
                  <a:lnTo>
                    <a:pt x="1032965" y="1047926"/>
                  </a:lnTo>
                  <a:cubicBezTo>
                    <a:pt x="1032965" y="1108727"/>
                    <a:pt x="983677" y="1158015"/>
                    <a:pt x="922876" y="1158015"/>
                  </a:cubicBezTo>
                  <a:lnTo>
                    <a:pt x="110089" y="1158015"/>
                  </a:lnTo>
                  <a:cubicBezTo>
                    <a:pt x="80891" y="1158015"/>
                    <a:pt x="52890" y="1146417"/>
                    <a:pt x="32244" y="1125771"/>
                  </a:cubicBezTo>
                  <a:cubicBezTo>
                    <a:pt x="11599" y="1105125"/>
                    <a:pt x="0" y="1077124"/>
                    <a:pt x="0" y="1047926"/>
                  </a:cubicBezTo>
                  <a:lnTo>
                    <a:pt x="0" y="110089"/>
                  </a:lnTo>
                  <a:cubicBezTo>
                    <a:pt x="0" y="49288"/>
                    <a:pt x="49288" y="0"/>
                    <a:pt x="110089" y="0"/>
                  </a:cubicBezTo>
                  <a:close/>
                </a:path>
              </a:pathLst>
            </a:custGeom>
            <a:solidFill>
              <a:srgbClr val="00508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032965" cy="1224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631768" y="2535937"/>
            <a:ext cx="3586540" cy="4020724"/>
            <a:chOff x="0" y="0"/>
            <a:chExt cx="1032965" cy="11580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32965" cy="1158015"/>
            </a:xfrm>
            <a:custGeom>
              <a:avLst/>
              <a:gdLst/>
              <a:ahLst/>
              <a:cxnLst/>
              <a:rect r="r" b="b" t="t" l="l"/>
              <a:pathLst>
                <a:path h="1158015" w="1032965">
                  <a:moveTo>
                    <a:pt x="110089" y="0"/>
                  </a:moveTo>
                  <a:lnTo>
                    <a:pt x="922876" y="0"/>
                  </a:lnTo>
                  <a:cubicBezTo>
                    <a:pt x="952074" y="0"/>
                    <a:pt x="980075" y="11599"/>
                    <a:pt x="1000721" y="32244"/>
                  </a:cubicBezTo>
                  <a:cubicBezTo>
                    <a:pt x="1021366" y="52890"/>
                    <a:pt x="1032965" y="80891"/>
                    <a:pt x="1032965" y="110089"/>
                  </a:cubicBezTo>
                  <a:lnTo>
                    <a:pt x="1032965" y="1047926"/>
                  </a:lnTo>
                  <a:cubicBezTo>
                    <a:pt x="1032965" y="1108727"/>
                    <a:pt x="983677" y="1158015"/>
                    <a:pt x="922876" y="1158015"/>
                  </a:cubicBezTo>
                  <a:lnTo>
                    <a:pt x="110089" y="1158015"/>
                  </a:lnTo>
                  <a:cubicBezTo>
                    <a:pt x="80891" y="1158015"/>
                    <a:pt x="52890" y="1146417"/>
                    <a:pt x="32244" y="1125771"/>
                  </a:cubicBezTo>
                  <a:cubicBezTo>
                    <a:pt x="11599" y="1105125"/>
                    <a:pt x="0" y="1077124"/>
                    <a:pt x="0" y="1047926"/>
                  </a:cubicBezTo>
                  <a:lnTo>
                    <a:pt x="0" y="110089"/>
                  </a:lnTo>
                  <a:cubicBezTo>
                    <a:pt x="0" y="49288"/>
                    <a:pt x="49288" y="0"/>
                    <a:pt x="110089" y="0"/>
                  </a:cubicBezTo>
                  <a:close/>
                </a:path>
              </a:pathLst>
            </a:custGeom>
            <a:solidFill>
              <a:srgbClr val="4BADD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032965" cy="1224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437383" y="2535937"/>
            <a:ext cx="3586540" cy="4020724"/>
            <a:chOff x="0" y="0"/>
            <a:chExt cx="1032965" cy="115801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32965" cy="1158015"/>
            </a:xfrm>
            <a:custGeom>
              <a:avLst/>
              <a:gdLst/>
              <a:ahLst/>
              <a:cxnLst/>
              <a:rect r="r" b="b" t="t" l="l"/>
              <a:pathLst>
                <a:path h="1158015" w="1032965">
                  <a:moveTo>
                    <a:pt x="110089" y="0"/>
                  </a:moveTo>
                  <a:lnTo>
                    <a:pt x="922876" y="0"/>
                  </a:lnTo>
                  <a:cubicBezTo>
                    <a:pt x="952074" y="0"/>
                    <a:pt x="980075" y="11599"/>
                    <a:pt x="1000721" y="32244"/>
                  </a:cubicBezTo>
                  <a:cubicBezTo>
                    <a:pt x="1021366" y="52890"/>
                    <a:pt x="1032965" y="80891"/>
                    <a:pt x="1032965" y="110089"/>
                  </a:cubicBezTo>
                  <a:lnTo>
                    <a:pt x="1032965" y="1047926"/>
                  </a:lnTo>
                  <a:cubicBezTo>
                    <a:pt x="1032965" y="1108727"/>
                    <a:pt x="983677" y="1158015"/>
                    <a:pt x="922876" y="1158015"/>
                  </a:cubicBezTo>
                  <a:lnTo>
                    <a:pt x="110089" y="1158015"/>
                  </a:lnTo>
                  <a:cubicBezTo>
                    <a:pt x="80891" y="1158015"/>
                    <a:pt x="52890" y="1146417"/>
                    <a:pt x="32244" y="1125771"/>
                  </a:cubicBezTo>
                  <a:cubicBezTo>
                    <a:pt x="11599" y="1105125"/>
                    <a:pt x="0" y="1077124"/>
                    <a:pt x="0" y="1047926"/>
                  </a:cubicBezTo>
                  <a:lnTo>
                    <a:pt x="0" y="110089"/>
                  </a:lnTo>
                  <a:cubicBezTo>
                    <a:pt x="0" y="49288"/>
                    <a:pt x="49288" y="0"/>
                    <a:pt x="110089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032965" cy="1224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7612322"/>
            <a:ext cx="7603068" cy="1645978"/>
            <a:chOff x="0" y="0"/>
            <a:chExt cx="2002454" cy="4335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02454" cy="433509"/>
            </a:xfrm>
            <a:custGeom>
              <a:avLst/>
              <a:gdLst/>
              <a:ahLst/>
              <a:cxnLst/>
              <a:rect r="r" b="b" t="t" l="l"/>
              <a:pathLst>
                <a:path h="433509" w="2002454">
                  <a:moveTo>
                    <a:pt x="16292" y="0"/>
                  </a:moveTo>
                  <a:lnTo>
                    <a:pt x="1986162" y="0"/>
                  </a:lnTo>
                  <a:cubicBezTo>
                    <a:pt x="1990483" y="0"/>
                    <a:pt x="1994627" y="1716"/>
                    <a:pt x="1997682" y="4772"/>
                  </a:cubicBezTo>
                  <a:cubicBezTo>
                    <a:pt x="2000738" y="7827"/>
                    <a:pt x="2002454" y="11971"/>
                    <a:pt x="2002454" y="16292"/>
                  </a:cubicBezTo>
                  <a:lnTo>
                    <a:pt x="2002454" y="417216"/>
                  </a:lnTo>
                  <a:cubicBezTo>
                    <a:pt x="2002454" y="421537"/>
                    <a:pt x="2000738" y="425681"/>
                    <a:pt x="1997682" y="428737"/>
                  </a:cubicBezTo>
                  <a:cubicBezTo>
                    <a:pt x="1994627" y="431792"/>
                    <a:pt x="1990483" y="433509"/>
                    <a:pt x="1986162" y="433509"/>
                  </a:cubicBezTo>
                  <a:lnTo>
                    <a:pt x="16292" y="433509"/>
                  </a:lnTo>
                  <a:cubicBezTo>
                    <a:pt x="11971" y="433509"/>
                    <a:pt x="7827" y="431792"/>
                    <a:pt x="4772" y="428737"/>
                  </a:cubicBezTo>
                  <a:cubicBezTo>
                    <a:pt x="1716" y="425681"/>
                    <a:pt x="0" y="421537"/>
                    <a:pt x="0" y="417216"/>
                  </a:cubicBezTo>
                  <a:lnTo>
                    <a:pt x="0" y="16292"/>
                  </a:lnTo>
                  <a:cubicBezTo>
                    <a:pt x="0" y="11971"/>
                    <a:pt x="1716" y="7827"/>
                    <a:pt x="4772" y="4772"/>
                  </a:cubicBezTo>
                  <a:cubicBezTo>
                    <a:pt x="7827" y="1716"/>
                    <a:pt x="11971" y="0"/>
                    <a:pt x="16292" y="0"/>
                  </a:cubicBezTo>
                  <a:close/>
                </a:path>
              </a:pathLst>
            </a:custGeom>
            <a:solidFill>
              <a:srgbClr val="023A83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2002454" cy="5001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4615240" y="4546299"/>
            <a:ext cx="18714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2" id="22"/>
          <p:cNvSpPr/>
          <p:nvPr/>
        </p:nvSpPr>
        <p:spPr>
          <a:xfrm>
            <a:off x="8416774" y="4546299"/>
            <a:ext cx="214994" cy="15485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3" id="23"/>
          <p:cNvSpPr/>
          <p:nvPr/>
        </p:nvSpPr>
        <p:spPr>
          <a:xfrm>
            <a:off x="12218308" y="4546299"/>
            <a:ext cx="219075" cy="4400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4" id="24"/>
          <p:cNvGrpSpPr/>
          <p:nvPr/>
        </p:nvGrpSpPr>
        <p:grpSpPr>
          <a:xfrm rot="0">
            <a:off x="2209969" y="2960348"/>
            <a:ext cx="1224002" cy="1224002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F5FA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3600" spc="-72">
                  <a:solidFill>
                    <a:srgbClr val="023A83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1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28700" y="1412208"/>
            <a:ext cx="12357502" cy="709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5366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DESCRIÇÃO DA SOLUÇÃO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13782" y="5199685"/>
            <a:ext cx="2982618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4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Coleta e normalização dos documentos.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83465" y="4479624"/>
            <a:ext cx="284325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 spc="-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Textos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15316" y="5199685"/>
            <a:ext cx="2982618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4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Vetorização estatística das palavras-chave.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184999" y="4479624"/>
            <a:ext cx="284325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 spc="-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TF-IDF + Cosseno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918590" y="5199685"/>
            <a:ext cx="2982618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4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Criação de conexões Bipartidas e Texto-Texto.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988274" y="4415156"/>
            <a:ext cx="284325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 spc="-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Grafos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722465" y="5023473"/>
            <a:ext cx="2982618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4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Geração de recomendações personalizadas.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792148" y="4479624"/>
            <a:ext cx="284325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 spc="-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Ranking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59506" y="7865398"/>
            <a:ext cx="6941455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-40">
                <a:solidFill>
                  <a:srgbClr val="EAF5FA"/>
                </a:solidFill>
                <a:latin typeface="Poppins Bold"/>
                <a:ea typeface="Poppins Bold"/>
                <a:cs typeface="Poppins Bold"/>
                <a:sym typeface="Poppins Bold"/>
              </a:rPr>
              <a:t>Usuário Existente</a:t>
            </a:r>
          </a:p>
          <a:p>
            <a:pPr algn="l">
              <a:lnSpc>
                <a:spcPts val="2800"/>
              </a:lnSpc>
            </a:pPr>
            <a:r>
              <a:rPr lang="en-US" sz="2000" spc="-40">
                <a:solidFill>
                  <a:srgbClr val="EAF5FA"/>
                </a:solidFill>
                <a:latin typeface="Poppins"/>
                <a:ea typeface="Poppins"/>
                <a:cs typeface="Poppins"/>
                <a:sym typeface="Poppins"/>
              </a:rPr>
              <a:t>Usa histórico de interações no grafo projetado. Pontuação = soma dos pesos dos vizinhos x nota dada.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931606" y="7865398"/>
            <a:ext cx="7092316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-40">
                <a:solidFill>
                  <a:srgbClr val="EAF5FA"/>
                </a:solidFill>
                <a:latin typeface="Poppins Bold"/>
                <a:ea typeface="Poppins Bold"/>
                <a:cs typeface="Poppins Bold"/>
                <a:sym typeface="Poppins Bold"/>
              </a:rPr>
              <a:t>Cold Start</a:t>
            </a:r>
          </a:p>
          <a:p>
            <a:pPr algn="l">
              <a:lnSpc>
                <a:spcPts val="2800"/>
              </a:lnSpc>
            </a:pPr>
            <a:r>
              <a:rPr lang="en-US" sz="2000" spc="-40">
                <a:solidFill>
                  <a:srgbClr val="EAF5FA"/>
                </a:solidFill>
                <a:latin typeface="Poppins"/>
                <a:ea typeface="Poppins"/>
                <a:cs typeface="Poppins"/>
                <a:sym typeface="Poppins"/>
              </a:rPr>
              <a:t>Para novos u</a:t>
            </a:r>
            <a:r>
              <a:rPr lang="en-US" sz="2000" spc="-40">
                <a:solidFill>
                  <a:srgbClr val="EAF5FA"/>
                </a:solidFill>
                <a:latin typeface="Poppins"/>
                <a:ea typeface="Poppins"/>
                <a:cs typeface="Poppins"/>
                <a:sym typeface="Poppins"/>
              </a:rPr>
              <a:t>suarios sem historico. Filtra por area de interesse e ranqueia pela nota media da comunidade.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06083" y="6999957"/>
            <a:ext cx="602545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 spc="-48">
                <a:solidFill>
                  <a:srgbClr val="023A83"/>
                </a:solidFill>
                <a:latin typeface="Poppins Bold"/>
                <a:ea typeface="Poppins Bold"/>
                <a:cs typeface="Poppins Bold"/>
                <a:sym typeface="Poppins Bold"/>
              </a:rPr>
              <a:t>Dois modos de recomendação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6011503" y="2960348"/>
            <a:ext cx="1224002" cy="1224002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F5FA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3600" spc="-72">
                  <a:solidFill>
                    <a:srgbClr val="023A83"/>
                  </a:solidFill>
                  <a:latin typeface="Poppins"/>
                  <a:ea typeface="Poppins"/>
                  <a:cs typeface="Poppins"/>
                  <a:sym typeface="Poppins"/>
                </a:rPr>
                <a:t>2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797898" y="2960348"/>
            <a:ext cx="1224002" cy="1224002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F5FA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3600" spc="-72">
                  <a:solidFill>
                    <a:srgbClr val="023A83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618652" y="2960348"/>
            <a:ext cx="1224002" cy="1224002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F5FA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3600" spc="-72">
                  <a:solidFill>
                    <a:srgbClr val="023A83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100000">
            <a:off x="13356027" y="289526"/>
            <a:ext cx="9399159" cy="9375661"/>
          </a:xfrm>
          <a:custGeom>
            <a:avLst/>
            <a:gdLst/>
            <a:ahLst/>
            <a:cxnLst/>
            <a:rect r="r" b="b" t="t" l="l"/>
            <a:pathLst>
              <a:path h="9375661" w="9399159">
                <a:moveTo>
                  <a:pt x="0" y="0"/>
                </a:moveTo>
                <a:lnTo>
                  <a:pt x="9399159" y="0"/>
                </a:lnTo>
                <a:lnTo>
                  <a:pt x="9399159" y="9375661"/>
                </a:lnTo>
                <a:lnTo>
                  <a:pt x="0" y="9375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40364" y="-284951"/>
            <a:ext cx="9947636" cy="10856902"/>
          </a:xfrm>
          <a:custGeom>
            <a:avLst/>
            <a:gdLst/>
            <a:ahLst/>
            <a:cxnLst/>
            <a:rect r="r" b="b" t="t" l="l"/>
            <a:pathLst>
              <a:path h="10856902" w="9947636">
                <a:moveTo>
                  <a:pt x="0" y="0"/>
                </a:moveTo>
                <a:lnTo>
                  <a:pt x="9947636" y="0"/>
                </a:lnTo>
                <a:lnTo>
                  <a:pt x="9947636" y="10856902"/>
                </a:lnTo>
                <a:lnTo>
                  <a:pt x="0" y="10856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30568" y="8471623"/>
            <a:ext cx="551594" cy="895036"/>
          </a:xfrm>
          <a:custGeom>
            <a:avLst/>
            <a:gdLst/>
            <a:ahLst/>
            <a:cxnLst/>
            <a:rect r="r" b="b" t="t" l="l"/>
            <a:pathLst>
              <a:path h="895036" w="551594">
                <a:moveTo>
                  <a:pt x="0" y="0"/>
                </a:moveTo>
                <a:lnTo>
                  <a:pt x="551594" y="0"/>
                </a:lnTo>
                <a:lnTo>
                  <a:pt x="551594" y="895036"/>
                </a:lnTo>
                <a:lnTo>
                  <a:pt x="0" y="8950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31265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142232" y="3862423"/>
          <a:ext cx="7315200" cy="3509101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8802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Avaliação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A8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Peso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A83"/>
                    </a:solidFill>
                  </a:tcPr>
                </a:tc>
              </a:tr>
              <a:tr h="8762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Não gostou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62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Mediano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62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Gostou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2106365" y="1951066"/>
            <a:ext cx="10096665" cy="709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5366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DADOS UTILIZADOS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06365" y="3538293"/>
            <a:ext cx="4001852" cy="4809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</a:p>
          <a:p>
            <a:pPr algn="l">
              <a:lnSpc>
                <a:spcPts val="3184"/>
              </a:lnSpc>
            </a:pPr>
            <a:r>
              <a:rPr lang="en-US" sz="2274" spc="-45" b="true">
                <a:solidFill>
                  <a:srgbClr val="023A83"/>
                </a:solidFill>
                <a:latin typeface="Poppins Bold"/>
                <a:ea typeface="Poppins Bold"/>
                <a:cs typeface="Poppins Bold"/>
                <a:sym typeface="Poppins Bold"/>
              </a:rPr>
              <a:t>Redações</a:t>
            </a:r>
          </a:p>
          <a:p>
            <a:pPr algn="l" marL="491041" indent="-245520" lvl="1">
              <a:lnSpc>
                <a:spcPts val="3184"/>
              </a:lnSpc>
              <a:buFont typeface="Arial"/>
              <a:buChar char="•"/>
            </a:pPr>
            <a:r>
              <a:rPr lang="en-US" sz="2274" spc="-45">
                <a:solidFill>
                  <a:srgbClr val="023A83"/>
                </a:solidFill>
                <a:latin typeface="Poppins Light"/>
                <a:ea typeface="Poppins Light"/>
                <a:cs typeface="Poppins Light"/>
                <a:sym typeface="Poppins Light"/>
              </a:rPr>
              <a:t>ID</a:t>
            </a:r>
          </a:p>
          <a:p>
            <a:pPr algn="l" marL="491041" indent="-245520" lvl="1">
              <a:lnSpc>
                <a:spcPts val="3184"/>
              </a:lnSpc>
              <a:buFont typeface="Arial"/>
              <a:buChar char="•"/>
            </a:pPr>
            <a:r>
              <a:rPr lang="en-US" sz="2274" spc="-45">
                <a:solidFill>
                  <a:srgbClr val="023A83"/>
                </a:solidFill>
                <a:latin typeface="Poppins Light"/>
                <a:ea typeface="Poppins Light"/>
                <a:cs typeface="Poppins Light"/>
                <a:sym typeface="Poppins Light"/>
              </a:rPr>
              <a:t>Título</a:t>
            </a:r>
          </a:p>
          <a:p>
            <a:pPr algn="l" marL="491041" indent="-245520" lvl="1">
              <a:lnSpc>
                <a:spcPts val="3184"/>
              </a:lnSpc>
              <a:buFont typeface="Arial"/>
              <a:buChar char="•"/>
            </a:pPr>
            <a:r>
              <a:rPr lang="en-US" sz="2274" spc="-45">
                <a:solidFill>
                  <a:srgbClr val="023A83"/>
                </a:solidFill>
                <a:latin typeface="Poppins Light"/>
                <a:ea typeface="Poppins Light"/>
                <a:cs typeface="Poppins Light"/>
                <a:sym typeface="Poppins Light"/>
              </a:rPr>
              <a:t>Área</a:t>
            </a:r>
          </a:p>
          <a:p>
            <a:pPr algn="l" marL="491041" indent="-245520" lvl="1">
              <a:lnSpc>
                <a:spcPts val="3184"/>
              </a:lnSpc>
              <a:buFont typeface="Arial"/>
              <a:buChar char="•"/>
            </a:pPr>
            <a:r>
              <a:rPr lang="en-US" sz="2274" spc="-45">
                <a:solidFill>
                  <a:srgbClr val="023A83"/>
                </a:solidFill>
                <a:latin typeface="Poppins Light"/>
                <a:ea typeface="Poppins Light"/>
                <a:cs typeface="Poppins Light"/>
                <a:sym typeface="Poppins Light"/>
              </a:rPr>
              <a:t>Ano</a:t>
            </a:r>
          </a:p>
          <a:p>
            <a:pPr algn="l" marL="491041" indent="-245520" lvl="1">
              <a:lnSpc>
                <a:spcPts val="3184"/>
              </a:lnSpc>
              <a:buFont typeface="Arial"/>
              <a:buChar char="•"/>
            </a:pPr>
            <a:r>
              <a:rPr lang="en-US" sz="2274" spc="-45">
                <a:solidFill>
                  <a:srgbClr val="023A83"/>
                </a:solidFill>
                <a:latin typeface="Poppins Light"/>
                <a:ea typeface="Poppins Light"/>
                <a:cs typeface="Poppins Light"/>
                <a:sym typeface="Poppins Light"/>
              </a:rPr>
              <a:t>Texto</a:t>
            </a:r>
          </a:p>
          <a:p>
            <a:pPr algn="l">
              <a:lnSpc>
                <a:spcPts val="3184"/>
              </a:lnSpc>
            </a:pPr>
          </a:p>
          <a:p>
            <a:pPr algn="l">
              <a:lnSpc>
                <a:spcPts val="3184"/>
              </a:lnSpc>
            </a:pPr>
            <a:r>
              <a:rPr lang="en-US" sz="2274" spc="-45" b="true">
                <a:solidFill>
                  <a:srgbClr val="023A83"/>
                </a:solidFill>
                <a:latin typeface="Poppins Bold"/>
                <a:ea typeface="Poppins Bold"/>
                <a:cs typeface="Poppins Bold"/>
                <a:sym typeface="Poppins Bold"/>
              </a:rPr>
              <a:t>Usuários</a:t>
            </a:r>
          </a:p>
          <a:p>
            <a:pPr algn="l" marL="491041" indent="-245520" lvl="1">
              <a:lnSpc>
                <a:spcPts val="3184"/>
              </a:lnSpc>
              <a:buFont typeface="Arial"/>
              <a:buChar char="•"/>
            </a:pPr>
            <a:r>
              <a:rPr lang="en-US" sz="2274" spc="-45">
                <a:solidFill>
                  <a:srgbClr val="023A83"/>
                </a:solidFill>
                <a:latin typeface="Poppins Light"/>
                <a:ea typeface="Poppins Light"/>
                <a:cs typeface="Poppins Light"/>
                <a:sym typeface="Poppins Light"/>
              </a:rPr>
              <a:t>ID</a:t>
            </a:r>
          </a:p>
          <a:p>
            <a:pPr algn="l" marL="491041" indent="-245520" lvl="1">
              <a:lnSpc>
                <a:spcPts val="3184"/>
              </a:lnSpc>
              <a:buFont typeface="Arial"/>
              <a:buChar char="•"/>
            </a:pPr>
            <a:r>
              <a:rPr lang="en-US" sz="2274" spc="-45">
                <a:solidFill>
                  <a:srgbClr val="023A83"/>
                </a:solidFill>
                <a:latin typeface="Poppins Light"/>
                <a:ea typeface="Poppins Light"/>
                <a:cs typeface="Poppins Light"/>
                <a:sym typeface="Poppins Light"/>
              </a:rPr>
              <a:t>Área de interesse</a:t>
            </a:r>
          </a:p>
          <a:p>
            <a:pPr algn="l" marL="491041" indent="-245520" lvl="1">
              <a:lnSpc>
                <a:spcPts val="3184"/>
              </a:lnSpc>
              <a:spcBef>
                <a:spcPct val="0"/>
              </a:spcBef>
              <a:buFont typeface="Arial"/>
              <a:buChar char="•"/>
            </a:pPr>
            <a:r>
              <a:rPr lang="en-US" sz="2274" spc="-45">
                <a:solidFill>
                  <a:srgbClr val="023A83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Interações (Avaliações)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06365" y="3056328"/>
            <a:ext cx="666530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 spc="-48">
                <a:solidFill>
                  <a:srgbClr val="023A83"/>
                </a:solidFill>
                <a:latin typeface="Poppins Bold"/>
                <a:ea typeface="Poppins Bold"/>
                <a:cs typeface="Poppins Bold"/>
                <a:sym typeface="Poppins Bold"/>
              </a:rPr>
              <a:t>Dados Fictícios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103877">
            <a:off x="12428436" y="-6132375"/>
            <a:ext cx="9399159" cy="9375661"/>
          </a:xfrm>
          <a:custGeom>
            <a:avLst/>
            <a:gdLst/>
            <a:ahLst/>
            <a:cxnLst/>
            <a:rect r="r" b="b" t="t" l="l"/>
            <a:pathLst>
              <a:path h="9375661" w="9399159">
                <a:moveTo>
                  <a:pt x="0" y="0"/>
                </a:moveTo>
                <a:lnTo>
                  <a:pt x="9399159" y="0"/>
                </a:lnTo>
                <a:lnTo>
                  <a:pt x="9399159" y="9375661"/>
                </a:lnTo>
                <a:lnTo>
                  <a:pt x="0" y="9375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5196" y="8537245"/>
            <a:ext cx="551594" cy="895036"/>
          </a:xfrm>
          <a:custGeom>
            <a:avLst/>
            <a:gdLst/>
            <a:ahLst/>
            <a:cxnLst/>
            <a:rect r="r" b="b" t="t" l="l"/>
            <a:pathLst>
              <a:path h="895036" w="551594">
                <a:moveTo>
                  <a:pt x="0" y="0"/>
                </a:moveTo>
                <a:lnTo>
                  <a:pt x="551594" y="0"/>
                </a:lnTo>
                <a:lnTo>
                  <a:pt x="551594" y="895036"/>
                </a:lnTo>
                <a:lnTo>
                  <a:pt x="0" y="8950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31265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125271" y="5958170"/>
            <a:ext cx="9743581" cy="2000645"/>
            <a:chOff x="0" y="0"/>
            <a:chExt cx="2566211" cy="5269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6211" cy="526919"/>
            </a:xfrm>
            <a:custGeom>
              <a:avLst/>
              <a:gdLst/>
              <a:ahLst/>
              <a:cxnLst/>
              <a:rect r="r" b="b" t="t" l="l"/>
              <a:pathLst>
                <a:path h="526919" w="2566211">
                  <a:moveTo>
                    <a:pt x="1283105" y="0"/>
                  </a:moveTo>
                  <a:cubicBezTo>
                    <a:pt x="574466" y="0"/>
                    <a:pt x="0" y="117955"/>
                    <a:pt x="0" y="263459"/>
                  </a:cubicBezTo>
                  <a:cubicBezTo>
                    <a:pt x="0" y="408964"/>
                    <a:pt x="574466" y="526919"/>
                    <a:pt x="1283105" y="526919"/>
                  </a:cubicBezTo>
                  <a:cubicBezTo>
                    <a:pt x="1991745" y="526919"/>
                    <a:pt x="2566211" y="408964"/>
                    <a:pt x="2566211" y="263459"/>
                  </a:cubicBezTo>
                  <a:cubicBezTo>
                    <a:pt x="2566211" y="117955"/>
                    <a:pt x="1991745" y="0"/>
                    <a:pt x="1283105" y="0"/>
                  </a:cubicBezTo>
                  <a:close/>
                </a:path>
              </a:pathLst>
            </a:custGeom>
            <a:ln w="38100" cap="sq">
              <a:solidFill>
                <a:srgbClr val="38B6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240582" y="-17276"/>
              <a:ext cx="2085046" cy="494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369741" y="3272586"/>
            <a:ext cx="7505536" cy="2000645"/>
            <a:chOff x="0" y="0"/>
            <a:chExt cx="1976767" cy="5269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76767" cy="526919"/>
            </a:xfrm>
            <a:custGeom>
              <a:avLst/>
              <a:gdLst/>
              <a:ahLst/>
              <a:cxnLst/>
              <a:rect r="r" b="b" t="t" l="l"/>
              <a:pathLst>
                <a:path h="526919" w="1976767">
                  <a:moveTo>
                    <a:pt x="988383" y="0"/>
                  </a:moveTo>
                  <a:cubicBezTo>
                    <a:pt x="442514" y="0"/>
                    <a:pt x="0" y="117955"/>
                    <a:pt x="0" y="263459"/>
                  </a:cubicBezTo>
                  <a:cubicBezTo>
                    <a:pt x="0" y="408964"/>
                    <a:pt x="442514" y="526919"/>
                    <a:pt x="988383" y="526919"/>
                  </a:cubicBezTo>
                  <a:cubicBezTo>
                    <a:pt x="1534252" y="526919"/>
                    <a:pt x="1976767" y="408964"/>
                    <a:pt x="1976767" y="263459"/>
                  </a:cubicBezTo>
                  <a:cubicBezTo>
                    <a:pt x="1976767" y="117955"/>
                    <a:pt x="1534252" y="0"/>
                    <a:pt x="988383" y="0"/>
                  </a:cubicBezTo>
                  <a:close/>
                </a:path>
              </a:pathLst>
            </a:custGeom>
            <a:ln w="38100" cap="sq">
              <a:solidFill>
                <a:srgbClr val="4CAED7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85322" y="-17276"/>
              <a:ext cx="1606123" cy="494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4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 flipV="true">
            <a:off x="9022420" y="5005845"/>
            <a:ext cx="1074347" cy="1281893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 flipV="true">
            <a:off x="10096768" y="5005845"/>
            <a:ext cx="989627" cy="1281893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 flipV="true">
            <a:off x="10096768" y="5005845"/>
            <a:ext cx="3057728" cy="1281893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 flipV="true">
            <a:off x="12160743" y="5005845"/>
            <a:ext cx="993754" cy="1281893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11086395" y="5005845"/>
            <a:ext cx="1074347" cy="1281893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H="true" flipV="true">
            <a:off x="14228844" y="5005845"/>
            <a:ext cx="993754" cy="1281893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11086395" y="5005845"/>
            <a:ext cx="3142448" cy="1281893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9444088" y="3700486"/>
            <a:ext cx="1305359" cy="1305359"/>
            <a:chOff x="0" y="0"/>
            <a:chExt cx="1740479" cy="1740479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740479" cy="1740479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78F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4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35439" y="575377"/>
              <a:ext cx="669601" cy="5230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4"/>
                </a:lnSpc>
                <a:spcBef>
                  <a:spcPct val="0"/>
                </a:spcBef>
              </a:pPr>
              <a:r>
                <a:rPr lang="en-US" b="true" sz="2274" spc="-4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u01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508063" y="3700486"/>
            <a:ext cx="1305359" cy="1305359"/>
            <a:chOff x="0" y="0"/>
            <a:chExt cx="1740479" cy="1740479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740479" cy="1740479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78FF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4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476832" y="575377"/>
              <a:ext cx="786815" cy="5230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4"/>
                </a:lnSpc>
                <a:spcBef>
                  <a:spcPct val="0"/>
                </a:spcBef>
              </a:pPr>
              <a:r>
                <a:rPr lang="en-US" b="true" sz="2274" spc="-4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u02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576164" y="3700486"/>
            <a:ext cx="1305359" cy="1305359"/>
            <a:chOff x="0" y="0"/>
            <a:chExt cx="1740479" cy="1740479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740479" cy="1740479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78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4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436674" y="575377"/>
              <a:ext cx="867130" cy="5230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4"/>
                </a:lnSpc>
                <a:spcBef>
                  <a:spcPct val="0"/>
                </a:spcBef>
              </a:pPr>
              <a:r>
                <a:rPr lang="en-US" b="true" sz="2274" spc="-4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u03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369741" y="6287737"/>
            <a:ext cx="1305359" cy="1305359"/>
            <a:chOff x="0" y="0"/>
            <a:chExt cx="1740479" cy="1740479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740479" cy="1740479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4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535439" y="575377"/>
              <a:ext cx="669601" cy="5230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4"/>
                </a:lnSpc>
                <a:spcBef>
                  <a:spcPct val="0"/>
                </a:spcBef>
              </a:pPr>
              <a:r>
                <a:rPr lang="en-US" b="true" sz="2274" spc="-4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</a:t>
              </a:r>
              <a:r>
                <a:rPr lang="en-US" b="true" sz="2274" spc="-4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01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433716" y="6287737"/>
            <a:ext cx="1305359" cy="1305359"/>
            <a:chOff x="0" y="0"/>
            <a:chExt cx="1740479" cy="1740479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1740479" cy="1740479"/>
              <a:chOff x="0" y="0"/>
              <a:chExt cx="812800" cy="8128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4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538190" y="575377"/>
              <a:ext cx="669601" cy="5230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4"/>
                </a:lnSpc>
                <a:spcBef>
                  <a:spcPct val="0"/>
                </a:spcBef>
              </a:pPr>
              <a:r>
                <a:rPr lang="en-US" b="true" sz="2274" spc="-4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</a:t>
              </a:r>
              <a:r>
                <a:rPr lang="en-US" b="true" sz="2274" spc="-4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02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501817" y="6287737"/>
            <a:ext cx="1305359" cy="1305359"/>
            <a:chOff x="0" y="0"/>
            <a:chExt cx="1740479" cy="1740479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1740479" cy="1740479"/>
              <a:chOff x="0" y="0"/>
              <a:chExt cx="812800" cy="812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4"/>
                  </a:lnSpc>
                </a:pP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535439" y="575377"/>
              <a:ext cx="669601" cy="5230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4"/>
                </a:lnSpc>
                <a:spcBef>
                  <a:spcPct val="0"/>
                </a:spcBef>
              </a:pPr>
              <a:r>
                <a:rPr lang="en-US" b="true" sz="2274" spc="-4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</a:t>
              </a:r>
              <a:r>
                <a:rPr lang="en-US" b="true" sz="2274" spc="-4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05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569918" y="6287737"/>
            <a:ext cx="1305359" cy="1305359"/>
            <a:chOff x="0" y="0"/>
            <a:chExt cx="1740479" cy="1740479"/>
          </a:xfrm>
        </p:grpSpPr>
        <p:grpSp>
          <p:nvGrpSpPr>
            <p:cNvPr name="Group 48" id="48"/>
            <p:cNvGrpSpPr/>
            <p:nvPr/>
          </p:nvGrpSpPr>
          <p:grpSpPr>
            <a:xfrm rot="0">
              <a:off x="0" y="0"/>
              <a:ext cx="1740479" cy="1740479"/>
              <a:chOff x="0" y="0"/>
              <a:chExt cx="812800" cy="8128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84"/>
                  </a:lnSpc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535439" y="575377"/>
              <a:ext cx="669601" cy="5230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4"/>
                </a:lnSpc>
                <a:spcBef>
                  <a:spcPct val="0"/>
                </a:spcBef>
              </a:pPr>
              <a:r>
                <a:rPr lang="en-US" b="true" sz="2274" spc="-4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t13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555196" y="1724088"/>
            <a:ext cx="9214010" cy="709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5366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MODELAGEM DO GRAFO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55196" y="2862003"/>
            <a:ext cx="609513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 spc="-48">
                <a:solidFill>
                  <a:srgbClr val="023A83"/>
                </a:solidFill>
                <a:latin typeface="Poppins Bold"/>
                <a:ea typeface="Poppins Bold"/>
                <a:cs typeface="Poppins Bold"/>
                <a:sym typeface="Poppins Bold"/>
              </a:rPr>
              <a:t>Grafo Bipartido Ponderado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555196" y="3633811"/>
            <a:ext cx="5404845" cy="4719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1"/>
              </a:lnSpc>
            </a:pPr>
            <a:r>
              <a:rPr lang="en-US" sz="2079" spc="-41" b="true">
                <a:solidFill>
                  <a:srgbClr val="023A83"/>
                </a:solidFill>
                <a:latin typeface="Poppins Bold"/>
                <a:ea typeface="Poppins Bold"/>
                <a:cs typeface="Poppins Bold"/>
                <a:sym typeface="Poppins Bold"/>
              </a:rPr>
              <a:t>Conjunto A:</a:t>
            </a:r>
          </a:p>
          <a:p>
            <a:pPr algn="l" marL="449036" indent="-224518" lvl="1">
              <a:lnSpc>
                <a:spcPts val="2911"/>
              </a:lnSpc>
              <a:buFont typeface="Arial"/>
              <a:buChar char="•"/>
            </a:pPr>
            <a:r>
              <a:rPr lang="en-US" sz="2079" spc="-41">
                <a:solidFill>
                  <a:srgbClr val="023A83"/>
                </a:solidFill>
                <a:latin typeface="Poppins Light"/>
                <a:ea typeface="Poppins Light"/>
                <a:cs typeface="Poppins Light"/>
                <a:sym typeface="Poppins Light"/>
              </a:rPr>
              <a:t>Usuá</a:t>
            </a:r>
            <a:r>
              <a:rPr lang="en-US" sz="2079" spc="-41">
                <a:solidFill>
                  <a:srgbClr val="023A83"/>
                </a:solidFill>
                <a:latin typeface="Poppins Light"/>
                <a:ea typeface="Poppins Light"/>
                <a:cs typeface="Poppins Light"/>
                <a:sym typeface="Poppins Light"/>
              </a:rPr>
              <a:t>rios</a:t>
            </a:r>
          </a:p>
          <a:p>
            <a:pPr algn="l">
              <a:lnSpc>
                <a:spcPts val="2911"/>
              </a:lnSpc>
            </a:pPr>
          </a:p>
          <a:p>
            <a:pPr algn="l">
              <a:lnSpc>
                <a:spcPts val="2911"/>
              </a:lnSpc>
            </a:pPr>
            <a:r>
              <a:rPr lang="en-US" b="true" sz="2079" spc="-41">
                <a:solidFill>
                  <a:srgbClr val="023A83"/>
                </a:solidFill>
                <a:latin typeface="Poppins Bold"/>
                <a:ea typeface="Poppins Bold"/>
                <a:cs typeface="Poppins Bold"/>
                <a:sym typeface="Poppins Bold"/>
              </a:rPr>
              <a:t>Conjunto B:</a:t>
            </a:r>
          </a:p>
          <a:p>
            <a:pPr algn="l" marL="449036" indent="-224518" lvl="1">
              <a:lnSpc>
                <a:spcPts val="2911"/>
              </a:lnSpc>
              <a:buFont typeface="Arial"/>
              <a:buChar char="•"/>
            </a:pPr>
            <a:r>
              <a:rPr lang="en-US" sz="2079" spc="-41">
                <a:solidFill>
                  <a:srgbClr val="023A83"/>
                </a:solidFill>
                <a:latin typeface="Poppins Light"/>
                <a:ea typeface="Poppins Light"/>
                <a:cs typeface="Poppins Light"/>
                <a:sym typeface="Poppins Light"/>
              </a:rPr>
              <a:t>Redações</a:t>
            </a:r>
          </a:p>
          <a:p>
            <a:pPr algn="l">
              <a:lnSpc>
                <a:spcPts val="2911"/>
              </a:lnSpc>
            </a:pPr>
          </a:p>
          <a:p>
            <a:pPr algn="l">
              <a:lnSpc>
                <a:spcPts val="2911"/>
              </a:lnSpc>
            </a:pPr>
            <a:r>
              <a:rPr lang="en-US" b="true" sz="2079" spc="-41">
                <a:solidFill>
                  <a:srgbClr val="023A83"/>
                </a:solidFill>
                <a:latin typeface="Poppins Bold"/>
                <a:ea typeface="Poppins Bold"/>
                <a:cs typeface="Poppins Bold"/>
                <a:sym typeface="Poppins Bold"/>
              </a:rPr>
              <a:t>Arestas:</a:t>
            </a:r>
          </a:p>
          <a:p>
            <a:pPr algn="l" marL="449036" indent="-224518" lvl="1">
              <a:lnSpc>
                <a:spcPts val="2911"/>
              </a:lnSpc>
              <a:buFont typeface="Arial"/>
              <a:buChar char="•"/>
            </a:pPr>
            <a:r>
              <a:rPr lang="en-US" sz="2079" spc="-41">
                <a:solidFill>
                  <a:srgbClr val="023A83"/>
                </a:solidFill>
                <a:latin typeface="Poppins Light"/>
                <a:ea typeface="Poppins Light"/>
                <a:cs typeface="Poppins Light"/>
                <a:sym typeface="Poppins Light"/>
              </a:rPr>
              <a:t>Representam interações entre usuários e textos.</a:t>
            </a:r>
          </a:p>
          <a:p>
            <a:pPr algn="l">
              <a:lnSpc>
                <a:spcPts val="2911"/>
              </a:lnSpc>
            </a:pPr>
          </a:p>
          <a:p>
            <a:pPr algn="l">
              <a:lnSpc>
                <a:spcPts val="2911"/>
              </a:lnSpc>
            </a:pPr>
            <a:r>
              <a:rPr lang="en-US" b="true" sz="2079" spc="-41">
                <a:solidFill>
                  <a:srgbClr val="023A83"/>
                </a:solidFill>
                <a:latin typeface="Poppins Bold"/>
                <a:ea typeface="Poppins Bold"/>
                <a:cs typeface="Poppins Bold"/>
                <a:sym typeface="Poppins Bold"/>
              </a:rPr>
              <a:t>Pesos:</a:t>
            </a:r>
          </a:p>
          <a:p>
            <a:pPr algn="l" marL="449036" indent="-224518" lvl="1">
              <a:lnSpc>
                <a:spcPts val="2911"/>
              </a:lnSpc>
              <a:buFont typeface="Arial"/>
              <a:buChar char="•"/>
            </a:pPr>
            <a:r>
              <a:rPr lang="en-US" sz="2079" spc="-41">
                <a:solidFill>
                  <a:srgbClr val="023A83"/>
                </a:solidFill>
                <a:latin typeface="Poppins Light"/>
                <a:ea typeface="Poppins Light"/>
                <a:cs typeface="Poppins Light"/>
                <a:sym typeface="Poppins Light"/>
              </a:rPr>
              <a:t>Dependem da avaliação.</a:t>
            </a:r>
          </a:p>
          <a:p>
            <a:pPr algn="l">
              <a:lnSpc>
                <a:spcPts val="2911"/>
              </a:lnSpc>
            </a:pPr>
          </a:p>
        </p:txBody>
      </p:sp>
      <p:sp>
        <p:nvSpPr>
          <p:cNvPr name="TextBox 55" id="55"/>
          <p:cNvSpPr txBox="true"/>
          <p:nvPr/>
        </p:nvSpPr>
        <p:spPr>
          <a:xfrm rot="0">
            <a:off x="9259781" y="5509542"/>
            <a:ext cx="502201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 spc="-31">
                <a:solidFill>
                  <a:srgbClr val="4BADD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392346" y="5509542"/>
            <a:ext cx="502201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 spc="-31">
                <a:solidFill>
                  <a:srgbClr val="4BADD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906053" y="5273957"/>
            <a:ext cx="502201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 spc="-31">
                <a:solidFill>
                  <a:srgbClr val="4BADD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579704" y="5167262"/>
            <a:ext cx="502201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 spc="-31">
                <a:solidFill>
                  <a:srgbClr val="4BADD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250716" y="5167262"/>
            <a:ext cx="502201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 spc="-31">
                <a:solidFill>
                  <a:srgbClr val="4BADD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073963" y="5225606"/>
            <a:ext cx="502201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 spc="-31">
                <a:solidFill>
                  <a:srgbClr val="4BADD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569918" y="5627335"/>
            <a:ext cx="502201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 spc="-31">
                <a:solidFill>
                  <a:srgbClr val="4BADD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5522604" y="3324688"/>
            <a:ext cx="1248277" cy="375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1"/>
              </a:lnSpc>
            </a:pPr>
            <a:r>
              <a:rPr lang="en-US" b="true" sz="2079" spc="-41">
                <a:solidFill>
                  <a:srgbClr val="4BADD6"/>
                </a:solidFill>
                <a:latin typeface="Poppins Bold"/>
                <a:ea typeface="Poppins Bold"/>
                <a:cs typeface="Poppins Bold"/>
                <a:sym typeface="Poppins Bold"/>
              </a:rPr>
              <a:t>Usuários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5875277" y="5891495"/>
            <a:ext cx="1418614" cy="375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1"/>
              </a:lnSpc>
            </a:pPr>
            <a:r>
              <a:rPr lang="en-US" b="true" sz="2079" spc="-41">
                <a:solidFill>
                  <a:srgbClr val="38B6FF"/>
                </a:solidFill>
                <a:latin typeface="Poppins Bold"/>
                <a:ea typeface="Poppins Bold"/>
                <a:cs typeface="Poppins Bold"/>
                <a:sym typeface="Poppins Bold"/>
              </a:rPr>
              <a:t>Redações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0007" y="8188194"/>
            <a:ext cx="551594" cy="895036"/>
          </a:xfrm>
          <a:custGeom>
            <a:avLst/>
            <a:gdLst/>
            <a:ahLst/>
            <a:cxnLst/>
            <a:rect r="r" b="b" t="t" l="l"/>
            <a:pathLst>
              <a:path h="895036" w="551594">
                <a:moveTo>
                  <a:pt x="0" y="0"/>
                </a:moveTo>
                <a:lnTo>
                  <a:pt x="551594" y="0"/>
                </a:lnTo>
                <a:lnTo>
                  <a:pt x="551594" y="895035"/>
                </a:lnTo>
                <a:lnTo>
                  <a:pt x="0" y="8950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31265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35897" y="5344048"/>
            <a:ext cx="5813387" cy="853623"/>
            <a:chOff x="0" y="0"/>
            <a:chExt cx="1701927" cy="2499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01927" cy="249903"/>
            </a:xfrm>
            <a:custGeom>
              <a:avLst/>
              <a:gdLst/>
              <a:ahLst/>
              <a:cxnLst/>
              <a:rect r="r" b="b" t="t" l="l"/>
              <a:pathLst>
                <a:path h="249903" w="1701927">
                  <a:moveTo>
                    <a:pt x="1701927" y="21308"/>
                  </a:moveTo>
                  <a:lnTo>
                    <a:pt x="1701927" y="228595"/>
                  </a:lnTo>
                  <a:cubicBezTo>
                    <a:pt x="1701927" y="240363"/>
                    <a:pt x="1692387" y="249903"/>
                    <a:pt x="1680619" y="249903"/>
                  </a:cubicBezTo>
                  <a:lnTo>
                    <a:pt x="21308" y="249903"/>
                  </a:lnTo>
                  <a:cubicBezTo>
                    <a:pt x="9540" y="249903"/>
                    <a:pt x="0" y="240363"/>
                    <a:pt x="0" y="228595"/>
                  </a:cubicBezTo>
                  <a:lnTo>
                    <a:pt x="0" y="21308"/>
                  </a:lnTo>
                  <a:cubicBezTo>
                    <a:pt x="0" y="9540"/>
                    <a:pt x="9540" y="0"/>
                    <a:pt x="21308" y="0"/>
                  </a:cubicBezTo>
                  <a:lnTo>
                    <a:pt x="1680619" y="0"/>
                  </a:lnTo>
                  <a:cubicBezTo>
                    <a:pt x="1686270" y="0"/>
                    <a:pt x="1691690" y="2245"/>
                    <a:pt x="1695686" y="6241"/>
                  </a:cubicBezTo>
                  <a:cubicBezTo>
                    <a:pt x="1699682" y="10237"/>
                    <a:pt x="1701927" y="15657"/>
                    <a:pt x="1701927" y="21308"/>
                  </a:cubicBezTo>
                  <a:close/>
                </a:path>
              </a:pathLst>
            </a:custGeom>
            <a:solidFill>
              <a:srgbClr val="EAF5F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701927" cy="316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84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740374" y="2121506"/>
            <a:ext cx="9214010" cy="709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5366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MODELAGEM DO GRAFO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40374" y="3259422"/>
            <a:ext cx="609513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 spc="-48">
                <a:solidFill>
                  <a:srgbClr val="023A83"/>
                </a:solidFill>
                <a:latin typeface="Poppins Bold"/>
                <a:ea typeface="Poppins Bold"/>
                <a:cs typeface="Poppins Bold"/>
                <a:sym typeface="Poppins Bold"/>
              </a:rPr>
              <a:t>Projeção Texto-Texto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40374" y="3916514"/>
            <a:ext cx="6095139" cy="4719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1"/>
              </a:lnSpc>
            </a:pPr>
            <a:r>
              <a:rPr lang="en-US" sz="2079" spc="-41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79" spc="-41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79" spc="-41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ola apenas as redações como vértices. O peso da aresta é calculado pela similaridade entre elas.</a:t>
            </a:r>
          </a:p>
          <a:p>
            <a:pPr algn="l">
              <a:lnSpc>
                <a:spcPts val="2911"/>
              </a:lnSpc>
            </a:pPr>
          </a:p>
          <a:p>
            <a:pPr algn="l">
              <a:lnSpc>
                <a:spcPts val="2911"/>
              </a:lnSpc>
            </a:pPr>
            <a:r>
              <a:rPr lang="en-US" sz="2079" spc="-41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A força da conexão entre duas redações não depende apenas do conteúdo, mas do comportamento humano coletivo.</a:t>
            </a:r>
          </a:p>
          <a:p>
            <a:pPr algn="l">
              <a:lnSpc>
                <a:spcPts val="2911"/>
              </a:lnSpc>
            </a:pPr>
          </a:p>
          <a:p>
            <a:pPr algn="l">
              <a:lnSpc>
                <a:spcPts val="2911"/>
              </a:lnSpc>
            </a:pPr>
            <a:r>
              <a:rPr lang="en-US" sz="2079" spc="-41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Utilizamos uma Lista de Adjacência para otimizar o acesso, garantindo que grafos esparsos ocupem o mínimo de memória possível.</a:t>
            </a:r>
          </a:p>
          <a:p>
            <a:pPr algn="l">
              <a:lnSpc>
                <a:spcPts val="2911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996231" y="5549623"/>
            <a:ext cx="6095139" cy="375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1"/>
              </a:lnSpc>
            </a:pPr>
            <a:r>
              <a:rPr lang="en-US" sz="2079" spc="-41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P       = α ⋅ S                     + (1 − α) ⋅ 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155994" y="5698622"/>
            <a:ext cx="413841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spc="-31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final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77236" y="5698622"/>
            <a:ext cx="1247477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spc="-31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colaborat</a:t>
            </a:r>
            <a:r>
              <a:rPr lang="en-US" sz="1599" spc="-31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iva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94893" y="5698622"/>
            <a:ext cx="1056580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spc="-31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semânt</a:t>
            </a:r>
            <a:r>
              <a:rPr lang="en-US" sz="1599" spc="-31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ica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35897" y="3780505"/>
            <a:ext cx="6095139" cy="1099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1"/>
              </a:lnSpc>
            </a:pPr>
            <a:r>
              <a:rPr lang="en-US" sz="2079" spc="-41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079" spc="-41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ombinamos Filtragem Colab</a:t>
            </a:r>
            <a:r>
              <a:rPr lang="en-US" sz="2079" spc="-41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orativa e Baseada em Conteúdo através do parâmetro de equilíbrio: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35897" y="6626296"/>
            <a:ext cx="6095139" cy="1461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9036" indent="-224518" lvl="1">
              <a:lnSpc>
                <a:spcPts val="2911"/>
              </a:lnSpc>
              <a:buFont typeface="Arial"/>
              <a:buChar char="•"/>
            </a:pPr>
            <a:r>
              <a:rPr lang="en-US" b="true" sz="2079" spc="-41">
                <a:solidFill>
                  <a:srgbClr val="023A83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Colab</a:t>
            </a:r>
            <a:r>
              <a:rPr lang="en-US" b="true" sz="2079" spc="-41">
                <a:solidFill>
                  <a:srgbClr val="023A83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orativa:</a:t>
            </a:r>
            <a:r>
              <a:rPr lang="en-US" sz="2079" spc="-41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 Baseada na coocorrência de leitores comuns.</a:t>
            </a:r>
          </a:p>
          <a:p>
            <a:pPr algn="l" marL="449036" indent="-224518" lvl="1">
              <a:lnSpc>
                <a:spcPts val="2911"/>
              </a:lnSpc>
              <a:buFont typeface="Arial"/>
              <a:buChar char="•"/>
            </a:pPr>
            <a:r>
              <a:rPr lang="en-US" b="true" sz="2079" spc="-41">
                <a:solidFill>
                  <a:srgbClr val="023A83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Semântica:</a:t>
            </a:r>
            <a:r>
              <a:rPr lang="en-US" sz="2079" spc="-41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 Calculada via TF-IDF e Similaridade de Cosseno.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742494">
            <a:off x="-5008727" y="-4489061"/>
            <a:ext cx="9399159" cy="9375661"/>
          </a:xfrm>
          <a:custGeom>
            <a:avLst/>
            <a:gdLst/>
            <a:ahLst/>
            <a:cxnLst/>
            <a:rect r="r" b="b" t="t" l="l"/>
            <a:pathLst>
              <a:path h="9375661" w="9399159">
                <a:moveTo>
                  <a:pt x="0" y="0"/>
                </a:moveTo>
                <a:lnTo>
                  <a:pt x="9399159" y="0"/>
                </a:lnTo>
                <a:lnTo>
                  <a:pt x="9399159" y="9375661"/>
                </a:lnTo>
                <a:lnTo>
                  <a:pt x="0" y="93756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26462" y="2183063"/>
            <a:ext cx="6696163" cy="1232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480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ESTRUTURAS DE DADOS UTILIZADAS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82621" y="3583372"/>
            <a:ext cx="6048684" cy="461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 spc="-48">
                <a:solidFill>
                  <a:srgbClr val="023A83"/>
                </a:solidFill>
                <a:latin typeface="Poppins Bold"/>
                <a:ea typeface="Poppins Bold"/>
                <a:cs typeface="Poppins Bold"/>
                <a:sym typeface="Poppins Bold"/>
              </a:rPr>
              <a:t>Grafo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48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Lista de adjacência.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b="true" sz="2400" spc="-48">
                <a:solidFill>
                  <a:srgbClr val="023A83"/>
                </a:solidFill>
                <a:latin typeface="Poppins Bold"/>
                <a:ea typeface="Poppins Bold"/>
                <a:cs typeface="Poppins Bold"/>
                <a:sym typeface="Poppins Bold"/>
              </a:rPr>
              <a:t>Min-Heap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48">
                <a:solidFill>
                  <a:srgbClr val="023A83"/>
                </a:solidFill>
                <a:latin typeface="Poppins Light"/>
                <a:ea typeface="Poppins Light"/>
                <a:cs typeface="Poppins Light"/>
                <a:sym typeface="Poppins Light"/>
              </a:rPr>
              <a:t>Seleção dos Top-K resultados.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b="true" sz="2400" spc="-48">
                <a:solidFill>
                  <a:srgbClr val="023A83"/>
                </a:solidFill>
                <a:latin typeface="Poppins Bold"/>
                <a:ea typeface="Poppins Bold"/>
                <a:cs typeface="Poppins Bold"/>
                <a:sym typeface="Poppins Bold"/>
              </a:rPr>
              <a:t>Dicionários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48">
                <a:solidFill>
                  <a:srgbClr val="023A83"/>
                </a:solidFill>
                <a:latin typeface="Poppins Light"/>
                <a:ea typeface="Poppins Light"/>
                <a:cs typeface="Poppins Light"/>
                <a:sym typeface="Poppins Light"/>
              </a:rPr>
              <a:t>Armazenamento eficiente.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b="true" sz="2400" spc="-48">
                <a:solidFill>
                  <a:srgbClr val="023A83"/>
                </a:solidFill>
                <a:latin typeface="Poppins Bold"/>
                <a:ea typeface="Poppins Bold"/>
                <a:cs typeface="Poppins Bold"/>
                <a:sym typeface="Poppins Bold"/>
              </a:rPr>
              <a:t>JSON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48">
                <a:solidFill>
                  <a:srgbClr val="023A83"/>
                </a:solidFill>
                <a:latin typeface="Poppins Light"/>
                <a:ea typeface="Poppins Light"/>
                <a:cs typeface="Poppins Light"/>
                <a:sym typeface="Poppins Light"/>
              </a:rPr>
              <a:t>Persistência dos dados.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769849" y="2710559"/>
            <a:ext cx="7160718" cy="1232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480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PROCESSAMENTO DE LINGUAGEM NATURAL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87807" y="4110868"/>
            <a:ext cx="6542760" cy="377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 b="true">
                <a:solidFill>
                  <a:srgbClr val="023A83"/>
                </a:solidFill>
                <a:latin typeface="Poppins Bold"/>
                <a:ea typeface="Poppins Bold"/>
                <a:cs typeface="Poppins Bold"/>
                <a:sym typeface="Poppins Bold"/>
              </a:rPr>
              <a:t>TF-IDF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48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400" spc="-48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ransforma cada redação em um vetor numérico.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b="true" sz="2400" spc="-48">
                <a:solidFill>
                  <a:srgbClr val="023A83"/>
                </a:solidFill>
                <a:latin typeface="Poppins Bold"/>
                <a:ea typeface="Poppins Bold"/>
                <a:cs typeface="Poppins Bold"/>
                <a:sym typeface="Poppins Bold"/>
              </a:rPr>
              <a:t>Similar</a:t>
            </a:r>
            <a:r>
              <a:rPr lang="en-US" b="true" sz="2400" spc="-48">
                <a:solidFill>
                  <a:srgbClr val="023A83"/>
                </a:solidFill>
                <a:latin typeface="Poppins Bold"/>
                <a:ea typeface="Poppins Bold"/>
                <a:cs typeface="Poppins Bold"/>
                <a:sym typeface="Poppins Bold"/>
              </a:rPr>
              <a:t>idade do Cosseno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48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Mede a proximidade entre dois textos.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b="true" sz="2400" spc="-48">
                <a:solidFill>
                  <a:srgbClr val="023A83"/>
                </a:solidFill>
                <a:latin typeface="Poppins Bold"/>
                <a:ea typeface="Poppins Bold"/>
                <a:cs typeface="Poppins Bold"/>
                <a:sym typeface="Poppins Bold"/>
              </a:rPr>
              <a:t>Quanto ma</a:t>
            </a:r>
            <a:r>
              <a:rPr lang="en-US" b="true" sz="2400" spc="-48">
                <a:solidFill>
                  <a:srgbClr val="023A83"/>
                </a:solidFill>
                <a:latin typeface="Poppins Bold"/>
                <a:ea typeface="Poppins Bold"/>
                <a:cs typeface="Poppins Bold"/>
                <a:sym typeface="Poppins Bold"/>
              </a:rPr>
              <a:t>ior o valor: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48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Maior a semelhança entre as redações.</a:t>
            </a:r>
          </a:p>
        </p:txBody>
      </p:sp>
      <p:sp>
        <p:nvSpPr>
          <p:cNvPr name="AutoShape 6" id="6"/>
          <p:cNvSpPr/>
          <p:nvPr/>
        </p:nvSpPr>
        <p:spPr>
          <a:xfrm>
            <a:off x="8896237" y="1897380"/>
            <a:ext cx="0" cy="6492240"/>
          </a:xfrm>
          <a:prstGeom prst="line">
            <a:avLst/>
          </a:prstGeom>
          <a:ln cap="flat" w="19050">
            <a:solidFill>
              <a:srgbClr val="023A8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7888483"/>
            <a:ext cx="551594" cy="895036"/>
          </a:xfrm>
          <a:custGeom>
            <a:avLst/>
            <a:gdLst/>
            <a:ahLst/>
            <a:cxnLst/>
            <a:rect r="r" b="b" t="t" l="l"/>
            <a:pathLst>
              <a:path h="895036" w="551594">
                <a:moveTo>
                  <a:pt x="0" y="0"/>
                </a:moveTo>
                <a:lnTo>
                  <a:pt x="551594" y="0"/>
                </a:lnTo>
                <a:lnTo>
                  <a:pt x="551594" y="895036"/>
                </a:lnTo>
                <a:lnTo>
                  <a:pt x="0" y="895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31265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790657">
            <a:off x="-4823461" y="8026049"/>
            <a:ext cx="9399159" cy="9375661"/>
          </a:xfrm>
          <a:custGeom>
            <a:avLst/>
            <a:gdLst/>
            <a:ahLst/>
            <a:cxnLst/>
            <a:rect r="r" b="b" t="t" l="l"/>
            <a:pathLst>
              <a:path h="9375661" w="9399159">
                <a:moveTo>
                  <a:pt x="0" y="0"/>
                </a:moveTo>
                <a:lnTo>
                  <a:pt x="9399159" y="0"/>
                </a:lnTo>
                <a:lnTo>
                  <a:pt x="9399159" y="9375661"/>
                </a:lnTo>
                <a:lnTo>
                  <a:pt x="0" y="93756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17238" y="-284951"/>
            <a:ext cx="9947636" cy="10856902"/>
          </a:xfrm>
          <a:custGeom>
            <a:avLst/>
            <a:gdLst/>
            <a:ahLst/>
            <a:cxnLst/>
            <a:rect r="r" b="b" t="t" l="l"/>
            <a:pathLst>
              <a:path h="10856902" w="9947636">
                <a:moveTo>
                  <a:pt x="0" y="0"/>
                </a:moveTo>
                <a:lnTo>
                  <a:pt x="9947636" y="0"/>
                </a:lnTo>
                <a:lnTo>
                  <a:pt x="9947636" y="10856902"/>
                </a:lnTo>
                <a:lnTo>
                  <a:pt x="0" y="108569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264134">
            <a:off x="13588420" y="455669"/>
            <a:ext cx="9399159" cy="9375661"/>
          </a:xfrm>
          <a:custGeom>
            <a:avLst/>
            <a:gdLst/>
            <a:ahLst/>
            <a:cxnLst/>
            <a:rect r="r" b="b" t="t" l="l"/>
            <a:pathLst>
              <a:path h="9375661" w="9399159">
                <a:moveTo>
                  <a:pt x="0" y="0"/>
                </a:moveTo>
                <a:lnTo>
                  <a:pt x="9399160" y="0"/>
                </a:lnTo>
                <a:lnTo>
                  <a:pt x="9399160" y="9375662"/>
                </a:lnTo>
                <a:lnTo>
                  <a:pt x="0" y="93756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52903" y="8626991"/>
            <a:ext cx="551594" cy="895036"/>
          </a:xfrm>
          <a:custGeom>
            <a:avLst/>
            <a:gdLst/>
            <a:ahLst/>
            <a:cxnLst/>
            <a:rect r="r" b="b" t="t" l="l"/>
            <a:pathLst>
              <a:path h="895036" w="551594">
                <a:moveTo>
                  <a:pt x="0" y="0"/>
                </a:moveTo>
                <a:lnTo>
                  <a:pt x="551594" y="0"/>
                </a:lnTo>
                <a:lnTo>
                  <a:pt x="551594" y="895036"/>
                </a:lnTo>
                <a:lnTo>
                  <a:pt x="0" y="8950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31265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04497" y="2373004"/>
            <a:ext cx="10855439" cy="6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480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FUNCIONAMENTO DO SISTEMA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70526" y="3405755"/>
            <a:ext cx="1059667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 spc="-48">
                <a:solidFill>
                  <a:srgbClr val="023A83"/>
                </a:solidFill>
                <a:latin typeface="Poppins Bold"/>
                <a:ea typeface="Poppins Bold"/>
                <a:cs typeface="Poppins Bold"/>
                <a:sym typeface="Poppins Bold"/>
              </a:rPr>
              <a:t>Fluxo: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47238" y="4116696"/>
            <a:ext cx="4280585" cy="389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40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Textos + Interações</a:t>
            </a:r>
          </a:p>
          <a:p>
            <a:pPr algn="ctr">
              <a:lnSpc>
                <a:spcPts val="2800"/>
              </a:lnSpc>
            </a:pPr>
            <a:r>
              <a:rPr lang="en-US" sz="2000" spc="-40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ctr">
              <a:lnSpc>
                <a:spcPts val="2800"/>
              </a:lnSpc>
            </a:pPr>
            <a:r>
              <a:rPr lang="en-US" sz="2000" spc="-40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Grafo Bipartido</a:t>
            </a:r>
          </a:p>
          <a:p>
            <a:pPr algn="ctr">
              <a:lnSpc>
                <a:spcPts val="2800"/>
              </a:lnSpc>
            </a:pPr>
            <a:r>
              <a:rPr lang="en-US" sz="2000" spc="-40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ctr">
              <a:lnSpc>
                <a:spcPts val="2800"/>
              </a:lnSpc>
            </a:pPr>
            <a:r>
              <a:rPr lang="en-US" sz="2000" spc="-40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Projeção Texto-Texto</a:t>
            </a:r>
          </a:p>
          <a:p>
            <a:pPr algn="ctr">
              <a:lnSpc>
                <a:spcPts val="2800"/>
              </a:lnSpc>
            </a:pPr>
            <a:r>
              <a:rPr lang="en-US" sz="2000" spc="-40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ctr">
              <a:lnSpc>
                <a:spcPts val="2800"/>
              </a:lnSpc>
            </a:pPr>
            <a:r>
              <a:rPr lang="en-US" sz="2000" spc="-40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Cá</a:t>
            </a:r>
            <a:r>
              <a:rPr lang="en-US" sz="2000" spc="-40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lculo dos Pesos</a:t>
            </a:r>
          </a:p>
          <a:p>
            <a:pPr algn="ctr">
              <a:lnSpc>
                <a:spcPts val="2800"/>
              </a:lnSpc>
            </a:pPr>
            <a:r>
              <a:rPr lang="en-US" sz="2000" spc="-40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ctr">
              <a:lnSpc>
                <a:spcPts val="2800"/>
              </a:lnSpc>
            </a:pPr>
            <a:r>
              <a:rPr lang="en-US" sz="2000" spc="-40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Min-Heap</a:t>
            </a:r>
          </a:p>
          <a:p>
            <a:pPr algn="ctr">
              <a:lnSpc>
                <a:spcPts val="2800"/>
              </a:lnSpc>
            </a:pPr>
            <a:r>
              <a:rPr lang="en-US" sz="2000" spc="-40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40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Top-K Recomendações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100000">
            <a:off x="13356027" y="289526"/>
            <a:ext cx="9399159" cy="9375661"/>
          </a:xfrm>
          <a:custGeom>
            <a:avLst/>
            <a:gdLst/>
            <a:ahLst/>
            <a:cxnLst/>
            <a:rect r="r" b="b" t="t" l="l"/>
            <a:pathLst>
              <a:path h="9375661" w="9399159">
                <a:moveTo>
                  <a:pt x="0" y="0"/>
                </a:moveTo>
                <a:lnTo>
                  <a:pt x="9399159" y="0"/>
                </a:lnTo>
                <a:lnTo>
                  <a:pt x="9399159" y="9375661"/>
                </a:lnTo>
                <a:lnTo>
                  <a:pt x="0" y="9375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31768" y="-284951"/>
            <a:ext cx="9947636" cy="10856902"/>
          </a:xfrm>
          <a:custGeom>
            <a:avLst/>
            <a:gdLst/>
            <a:ahLst/>
            <a:cxnLst/>
            <a:rect r="r" b="b" t="t" l="l"/>
            <a:pathLst>
              <a:path h="10856902" w="9947636">
                <a:moveTo>
                  <a:pt x="0" y="0"/>
                </a:moveTo>
                <a:lnTo>
                  <a:pt x="9947636" y="0"/>
                </a:lnTo>
                <a:lnTo>
                  <a:pt x="9947636" y="10856902"/>
                </a:lnTo>
                <a:lnTo>
                  <a:pt x="0" y="10856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8363" y="8508973"/>
            <a:ext cx="551594" cy="895036"/>
          </a:xfrm>
          <a:custGeom>
            <a:avLst/>
            <a:gdLst/>
            <a:ahLst/>
            <a:cxnLst/>
            <a:rect r="r" b="b" t="t" l="l"/>
            <a:pathLst>
              <a:path h="895036" w="551594">
                <a:moveTo>
                  <a:pt x="0" y="0"/>
                </a:moveTo>
                <a:lnTo>
                  <a:pt x="551594" y="0"/>
                </a:lnTo>
                <a:lnTo>
                  <a:pt x="551594" y="895035"/>
                </a:lnTo>
                <a:lnTo>
                  <a:pt x="0" y="8950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31265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552712" y="2803327"/>
          <a:ext cx="15182576" cy="6153164"/>
        </p:xfrm>
        <a:graphic>
          <a:graphicData uri="http://schemas.openxmlformats.org/drawingml/2006/table">
            <a:tbl>
              <a:tblPr/>
              <a:tblGrid>
                <a:gridCol w="7591288"/>
                <a:gridCol w="7591288"/>
              </a:tblGrid>
              <a:tr h="9756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Arquivo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A8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Responsabilidade Principal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A83"/>
                    </a:solidFill>
                  </a:tcPr>
                </a:tc>
              </a:tr>
              <a:tr h="9756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main.py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Ponto de entrada e orquestração de todo o fluxo.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56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pln_modulo.py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Tratamento de texto, tokens e matriz TF-IDF.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747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grafo.py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Implementação da classe Grafo e métodos de adjacência.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56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recomendacao.py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Lógica de filtragem, Top-K e tratamento de Cold Start.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56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test_recomendacao.py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Validação e testes unitários do sistema.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028700" y="1704493"/>
            <a:ext cx="10855439" cy="6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480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IMPLEMENTAÇÃO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100000">
            <a:off x="13356027" y="289526"/>
            <a:ext cx="9399159" cy="9375661"/>
          </a:xfrm>
          <a:custGeom>
            <a:avLst/>
            <a:gdLst/>
            <a:ahLst/>
            <a:cxnLst/>
            <a:rect r="r" b="b" t="t" l="l"/>
            <a:pathLst>
              <a:path h="9375661" w="9399159">
                <a:moveTo>
                  <a:pt x="0" y="0"/>
                </a:moveTo>
                <a:lnTo>
                  <a:pt x="9399159" y="0"/>
                </a:lnTo>
                <a:lnTo>
                  <a:pt x="9399159" y="9375661"/>
                </a:lnTo>
                <a:lnTo>
                  <a:pt x="0" y="9375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31768" y="-284951"/>
            <a:ext cx="9947636" cy="10856902"/>
          </a:xfrm>
          <a:custGeom>
            <a:avLst/>
            <a:gdLst/>
            <a:ahLst/>
            <a:cxnLst/>
            <a:rect r="r" b="b" t="t" l="l"/>
            <a:pathLst>
              <a:path h="10856902" w="9947636">
                <a:moveTo>
                  <a:pt x="0" y="0"/>
                </a:moveTo>
                <a:lnTo>
                  <a:pt x="9947636" y="0"/>
                </a:lnTo>
                <a:lnTo>
                  <a:pt x="9947636" y="10856902"/>
                </a:lnTo>
                <a:lnTo>
                  <a:pt x="0" y="10856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8281" y="9015915"/>
            <a:ext cx="470419" cy="763318"/>
          </a:xfrm>
          <a:custGeom>
            <a:avLst/>
            <a:gdLst/>
            <a:ahLst/>
            <a:cxnLst/>
            <a:rect r="r" b="b" t="t" l="l"/>
            <a:pathLst>
              <a:path h="763318" w="470419">
                <a:moveTo>
                  <a:pt x="0" y="0"/>
                </a:moveTo>
                <a:lnTo>
                  <a:pt x="470419" y="0"/>
                </a:lnTo>
                <a:lnTo>
                  <a:pt x="470419" y="763318"/>
                </a:lnTo>
                <a:lnTo>
                  <a:pt x="0" y="7633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31265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2556" y="3127915"/>
            <a:ext cx="1754548" cy="363480"/>
          </a:xfrm>
          <a:custGeom>
            <a:avLst/>
            <a:gdLst/>
            <a:ahLst/>
            <a:cxnLst/>
            <a:rect r="r" b="b" t="t" l="l"/>
            <a:pathLst>
              <a:path h="363480" w="1754548">
                <a:moveTo>
                  <a:pt x="0" y="0"/>
                </a:moveTo>
                <a:lnTo>
                  <a:pt x="1754548" y="0"/>
                </a:lnTo>
                <a:lnTo>
                  <a:pt x="1754548" y="363480"/>
                </a:lnTo>
                <a:lnTo>
                  <a:pt x="0" y="3634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177" t="-35312" r="0" b="-1159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90959" y="3605695"/>
            <a:ext cx="2058996" cy="301749"/>
          </a:xfrm>
          <a:custGeom>
            <a:avLst/>
            <a:gdLst/>
            <a:ahLst/>
            <a:cxnLst/>
            <a:rect r="r" b="b" t="t" l="l"/>
            <a:pathLst>
              <a:path h="301749" w="2058996">
                <a:moveTo>
                  <a:pt x="0" y="0"/>
                </a:moveTo>
                <a:lnTo>
                  <a:pt x="2058996" y="0"/>
                </a:lnTo>
                <a:lnTo>
                  <a:pt x="2058996" y="301750"/>
                </a:lnTo>
                <a:lnTo>
                  <a:pt x="0" y="3017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90959" y="4019234"/>
            <a:ext cx="3797813" cy="325527"/>
          </a:xfrm>
          <a:custGeom>
            <a:avLst/>
            <a:gdLst/>
            <a:ahLst/>
            <a:cxnLst/>
            <a:rect r="r" b="b" t="t" l="l"/>
            <a:pathLst>
              <a:path h="325527" w="3797813">
                <a:moveTo>
                  <a:pt x="0" y="0"/>
                </a:moveTo>
                <a:lnTo>
                  <a:pt x="3797813" y="0"/>
                </a:lnTo>
                <a:lnTo>
                  <a:pt x="3797813" y="325527"/>
                </a:lnTo>
                <a:lnTo>
                  <a:pt x="0" y="3255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90959" y="4453090"/>
            <a:ext cx="4513331" cy="365311"/>
          </a:xfrm>
          <a:custGeom>
            <a:avLst/>
            <a:gdLst/>
            <a:ahLst/>
            <a:cxnLst/>
            <a:rect r="r" b="b" t="t" l="l"/>
            <a:pathLst>
              <a:path h="365311" w="4513331">
                <a:moveTo>
                  <a:pt x="0" y="0"/>
                </a:moveTo>
                <a:lnTo>
                  <a:pt x="4513331" y="0"/>
                </a:lnTo>
                <a:lnTo>
                  <a:pt x="4513331" y="365311"/>
                </a:lnTo>
                <a:lnTo>
                  <a:pt x="0" y="3653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8399" r="-315" b="-37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90959" y="4930190"/>
            <a:ext cx="4513331" cy="671985"/>
          </a:xfrm>
          <a:custGeom>
            <a:avLst/>
            <a:gdLst/>
            <a:ahLst/>
            <a:cxnLst/>
            <a:rect r="r" b="b" t="t" l="l"/>
            <a:pathLst>
              <a:path h="671985" w="4513331">
                <a:moveTo>
                  <a:pt x="0" y="0"/>
                </a:moveTo>
                <a:lnTo>
                  <a:pt x="4513331" y="0"/>
                </a:lnTo>
                <a:lnTo>
                  <a:pt x="4513331" y="671985"/>
                </a:lnTo>
                <a:lnTo>
                  <a:pt x="0" y="67198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42556" y="5862119"/>
            <a:ext cx="7351127" cy="1198745"/>
          </a:xfrm>
          <a:custGeom>
            <a:avLst/>
            <a:gdLst/>
            <a:ahLst/>
            <a:cxnLst/>
            <a:rect r="r" b="b" t="t" l="l"/>
            <a:pathLst>
              <a:path h="1198745" w="7351127">
                <a:moveTo>
                  <a:pt x="0" y="0"/>
                </a:moveTo>
                <a:lnTo>
                  <a:pt x="7351127" y="0"/>
                </a:lnTo>
                <a:lnTo>
                  <a:pt x="7351127" y="1198745"/>
                </a:lnTo>
                <a:lnTo>
                  <a:pt x="0" y="119874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42556" y="7207082"/>
            <a:ext cx="9257898" cy="1582751"/>
          </a:xfrm>
          <a:custGeom>
            <a:avLst/>
            <a:gdLst/>
            <a:ahLst/>
            <a:cxnLst/>
            <a:rect r="r" b="b" t="t" l="l"/>
            <a:pathLst>
              <a:path h="1582751" w="9257898">
                <a:moveTo>
                  <a:pt x="0" y="0"/>
                </a:moveTo>
                <a:lnTo>
                  <a:pt x="9257898" y="0"/>
                </a:lnTo>
                <a:lnTo>
                  <a:pt x="9257898" y="1582751"/>
                </a:lnTo>
                <a:lnTo>
                  <a:pt x="0" y="158275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1704493"/>
            <a:ext cx="10855439" cy="6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480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IMPLEMENTAÇÃO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2556" y="2440277"/>
            <a:ext cx="428058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40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grafo.py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100000">
            <a:off x="13356027" y="289526"/>
            <a:ext cx="9399159" cy="9375661"/>
          </a:xfrm>
          <a:custGeom>
            <a:avLst/>
            <a:gdLst/>
            <a:ahLst/>
            <a:cxnLst/>
            <a:rect r="r" b="b" t="t" l="l"/>
            <a:pathLst>
              <a:path h="9375661" w="9399159">
                <a:moveTo>
                  <a:pt x="0" y="0"/>
                </a:moveTo>
                <a:lnTo>
                  <a:pt x="9399159" y="0"/>
                </a:lnTo>
                <a:lnTo>
                  <a:pt x="9399159" y="9375661"/>
                </a:lnTo>
                <a:lnTo>
                  <a:pt x="0" y="9375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31768" y="-284951"/>
            <a:ext cx="9947636" cy="10856902"/>
          </a:xfrm>
          <a:custGeom>
            <a:avLst/>
            <a:gdLst/>
            <a:ahLst/>
            <a:cxnLst/>
            <a:rect r="r" b="b" t="t" l="l"/>
            <a:pathLst>
              <a:path h="10856902" w="9947636">
                <a:moveTo>
                  <a:pt x="0" y="0"/>
                </a:moveTo>
                <a:lnTo>
                  <a:pt x="9947636" y="0"/>
                </a:lnTo>
                <a:lnTo>
                  <a:pt x="9947636" y="10856902"/>
                </a:lnTo>
                <a:lnTo>
                  <a:pt x="0" y="10856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8281" y="9015915"/>
            <a:ext cx="470419" cy="763318"/>
          </a:xfrm>
          <a:custGeom>
            <a:avLst/>
            <a:gdLst/>
            <a:ahLst/>
            <a:cxnLst/>
            <a:rect r="r" b="b" t="t" l="l"/>
            <a:pathLst>
              <a:path h="763318" w="470419">
                <a:moveTo>
                  <a:pt x="0" y="0"/>
                </a:moveTo>
                <a:lnTo>
                  <a:pt x="470419" y="0"/>
                </a:lnTo>
                <a:lnTo>
                  <a:pt x="470419" y="763318"/>
                </a:lnTo>
                <a:lnTo>
                  <a:pt x="0" y="7633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31265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2556" y="3322669"/>
            <a:ext cx="11344261" cy="2045972"/>
          </a:xfrm>
          <a:custGeom>
            <a:avLst/>
            <a:gdLst/>
            <a:ahLst/>
            <a:cxnLst/>
            <a:rect r="r" b="b" t="t" l="l"/>
            <a:pathLst>
              <a:path h="2045972" w="11344261">
                <a:moveTo>
                  <a:pt x="0" y="0"/>
                </a:moveTo>
                <a:lnTo>
                  <a:pt x="11344261" y="0"/>
                </a:lnTo>
                <a:lnTo>
                  <a:pt x="11344261" y="2045972"/>
                </a:lnTo>
                <a:lnTo>
                  <a:pt x="0" y="20459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66702" y="5570885"/>
            <a:ext cx="6846195" cy="634678"/>
          </a:xfrm>
          <a:custGeom>
            <a:avLst/>
            <a:gdLst/>
            <a:ahLst/>
            <a:cxnLst/>
            <a:rect r="r" b="b" t="t" l="l"/>
            <a:pathLst>
              <a:path h="634678" w="6846195">
                <a:moveTo>
                  <a:pt x="0" y="0"/>
                </a:moveTo>
                <a:lnTo>
                  <a:pt x="6846194" y="0"/>
                </a:lnTo>
                <a:lnTo>
                  <a:pt x="6846194" y="634677"/>
                </a:lnTo>
                <a:lnTo>
                  <a:pt x="0" y="6346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66702" y="6407806"/>
            <a:ext cx="3747236" cy="309506"/>
          </a:xfrm>
          <a:custGeom>
            <a:avLst/>
            <a:gdLst/>
            <a:ahLst/>
            <a:cxnLst/>
            <a:rect r="r" b="b" t="t" l="l"/>
            <a:pathLst>
              <a:path h="309506" w="3747236">
                <a:moveTo>
                  <a:pt x="0" y="0"/>
                </a:moveTo>
                <a:lnTo>
                  <a:pt x="3747236" y="0"/>
                </a:lnTo>
                <a:lnTo>
                  <a:pt x="3747236" y="309506"/>
                </a:lnTo>
                <a:lnTo>
                  <a:pt x="0" y="3095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66702" y="6919556"/>
            <a:ext cx="3423097" cy="397521"/>
          </a:xfrm>
          <a:custGeom>
            <a:avLst/>
            <a:gdLst/>
            <a:ahLst/>
            <a:cxnLst/>
            <a:rect r="r" b="b" t="t" l="l"/>
            <a:pathLst>
              <a:path h="397521" w="3423097">
                <a:moveTo>
                  <a:pt x="0" y="0"/>
                </a:moveTo>
                <a:lnTo>
                  <a:pt x="3423097" y="0"/>
                </a:lnTo>
                <a:lnTo>
                  <a:pt x="3423097" y="397521"/>
                </a:lnTo>
                <a:lnTo>
                  <a:pt x="0" y="39752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2556" y="7654149"/>
            <a:ext cx="5672131" cy="464385"/>
          </a:xfrm>
          <a:custGeom>
            <a:avLst/>
            <a:gdLst/>
            <a:ahLst/>
            <a:cxnLst/>
            <a:rect r="r" b="b" t="t" l="l"/>
            <a:pathLst>
              <a:path h="464385" w="5672131">
                <a:moveTo>
                  <a:pt x="0" y="0"/>
                </a:moveTo>
                <a:lnTo>
                  <a:pt x="5672131" y="0"/>
                </a:lnTo>
                <a:lnTo>
                  <a:pt x="5672131" y="464385"/>
                </a:lnTo>
                <a:lnTo>
                  <a:pt x="0" y="46438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931429"/>
            <a:ext cx="10855439" cy="6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480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IMPLEMENTAÇÃO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2556" y="2667213"/>
            <a:ext cx="428058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40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pln_modulo.py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100000">
            <a:off x="13356027" y="289526"/>
            <a:ext cx="9399159" cy="9375661"/>
          </a:xfrm>
          <a:custGeom>
            <a:avLst/>
            <a:gdLst/>
            <a:ahLst/>
            <a:cxnLst/>
            <a:rect r="r" b="b" t="t" l="l"/>
            <a:pathLst>
              <a:path h="9375661" w="9399159">
                <a:moveTo>
                  <a:pt x="0" y="0"/>
                </a:moveTo>
                <a:lnTo>
                  <a:pt x="9399159" y="0"/>
                </a:lnTo>
                <a:lnTo>
                  <a:pt x="9399159" y="9375661"/>
                </a:lnTo>
                <a:lnTo>
                  <a:pt x="0" y="9375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31768" y="-284951"/>
            <a:ext cx="9947636" cy="10856902"/>
          </a:xfrm>
          <a:custGeom>
            <a:avLst/>
            <a:gdLst/>
            <a:ahLst/>
            <a:cxnLst/>
            <a:rect r="r" b="b" t="t" l="l"/>
            <a:pathLst>
              <a:path h="10856902" w="9947636">
                <a:moveTo>
                  <a:pt x="0" y="0"/>
                </a:moveTo>
                <a:lnTo>
                  <a:pt x="9947636" y="0"/>
                </a:lnTo>
                <a:lnTo>
                  <a:pt x="9947636" y="10856902"/>
                </a:lnTo>
                <a:lnTo>
                  <a:pt x="0" y="10856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8281" y="9015915"/>
            <a:ext cx="470419" cy="763318"/>
          </a:xfrm>
          <a:custGeom>
            <a:avLst/>
            <a:gdLst/>
            <a:ahLst/>
            <a:cxnLst/>
            <a:rect r="r" b="b" t="t" l="l"/>
            <a:pathLst>
              <a:path h="763318" w="470419">
                <a:moveTo>
                  <a:pt x="0" y="0"/>
                </a:moveTo>
                <a:lnTo>
                  <a:pt x="470419" y="0"/>
                </a:lnTo>
                <a:lnTo>
                  <a:pt x="470419" y="763318"/>
                </a:lnTo>
                <a:lnTo>
                  <a:pt x="0" y="7633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31265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7854" y="3206963"/>
            <a:ext cx="2852189" cy="318825"/>
          </a:xfrm>
          <a:custGeom>
            <a:avLst/>
            <a:gdLst/>
            <a:ahLst/>
            <a:cxnLst/>
            <a:rect r="r" b="b" t="t" l="l"/>
            <a:pathLst>
              <a:path h="318825" w="2852189">
                <a:moveTo>
                  <a:pt x="0" y="0"/>
                </a:moveTo>
                <a:lnTo>
                  <a:pt x="2852189" y="0"/>
                </a:lnTo>
                <a:lnTo>
                  <a:pt x="2852189" y="318825"/>
                </a:lnTo>
                <a:lnTo>
                  <a:pt x="0" y="3188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7854" y="3645114"/>
            <a:ext cx="6620605" cy="564791"/>
          </a:xfrm>
          <a:custGeom>
            <a:avLst/>
            <a:gdLst/>
            <a:ahLst/>
            <a:cxnLst/>
            <a:rect r="r" b="b" t="t" l="l"/>
            <a:pathLst>
              <a:path h="564791" w="6620605">
                <a:moveTo>
                  <a:pt x="0" y="0"/>
                </a:moveTo>
                <a:lnTo>
                  <a:pt x="6620605" y="0"/>
                </a:lnTo>
                <a:lnTo>
                  <a:pt x="6620605" y="564791"/>
                </a:lnTo>
                <a:lnTo>
                  <a:pt x="0" y="5647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47854" y="4330490"/>
            <a:ext cx="7904097" cy="1653976"/>
          </a:xfrm>
          <a:custGeom>
            <a:avLst/>
            <a:gdLst/>
            <a:ahLst/>
            <a:cxnLst/>
            <a:rect r="r" b="b" t="t" l="l"/>
            <a:pathLst>
              <a:path h="1653976" w="7904097">
                <a:moveTo>
                  <a:pt x="0" y="0"/>
                </a:moveTo>
                <a:lnTo>
                  <a:pt x="7904097" y="0"/>
                </a:lnTo>
                <a:lnTo>
                  <a:pt x="7904097" y="1653976"/>
                </a:lnTo>
                <a:lnTo>
                  <a:pt x="0" y="165397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42556" y="6105051"/>
            <a:ext cx="7909394" cy="1594572"/>
          </a:xfrm>
          <a:custGeom>
            <a:avLst/>
            <a:gdLst/>
            <a:ahLst/>
            <a:cxnLst/>
            <a:rect r="r" b="b" t="t" l="l"/>
            <a:pathLst>
              <a:path h="1594572" w="7909394">
                <a:moveTo>
                  <a:pt x="0" y="0"/>
                </a:moveTo>
                <a:lnTo>
                  <a:pt x="7909395" y="0"/>
                </a:lnTo>
                <a:lnTo>
                  <a:pt x="7909395" y="1594572"/>
                </a:lnTo>
                <a:lnTo>
                  <a:pt x="0" y="1594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2556" y="7840812"/>
            <a:ext cx="7909394" cy="1555694"/>
          </a:xfrm>
          <a:custGeom>
            <a:avLst/>
            <a:gdLst/>
            <a:ahLst/>
            <a:cxnLst/>
            <a:rect r="r" b="b" t="t" l="l"/>
            <a:pathLst>
              <a:path h="1555694" w="7909394">
                <a:moveTo>
                  <a:pt x="0" y="0"/>
                </a:moveTo>
                <a:lnTo>
                  <a:pt x="7909395" y="0"/>
                </a:lnTo>
                <a:lnTo>
                  <a:pt x="7909395" y="1555694"/>
                </a:lnTo>
                <a:lnTo>
                  <a:pt x="0" y="155569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931429"/>
            <a:ext cx="10855439" cy="6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480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IMPLEMENTAÇÃO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2556" y="2667213"/>
            <a:ext cx="428058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40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recomendacao.py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100000">
            <a:off x="13356027" y="289526"/>
            <a:ext cx="9399159" cy="9375661"/>
          </a:xfrm>
          <a:custGeom>
            <a:avLst/>
            <a:gdLst/>
            <a:ahLst/>
            <a:cxnLst/>
            <a:rect r="r" b="b" t="t" l="l"/>
            <a:pathLst>
              <a:path h="9375661" w="9399159">
                <a:moveTo>
                  <a:pt x="0" y="0"/>
                </a:moveTo>
                <a:lnTo>
                  <a:pt x="9399159" y="0"/>
                </a:lnTo>
                <a:lnTo>
                  <a:pt x="9399159" y="9375661"/>
                </a:lnTo>
                <a:lnTo>
                  <a:pt x="0" y="9375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31768" y="-284951"/>
            <a:ext cx="9947636" cy="10856902"/>
          </a:xfrm>
          <a:custGeom>
            <a:avLst/>
            <a:gdLst/>
            <a:ahLst/>
            <a:cxnLst/>
            <a:rect r="r" b="b" t="t" l="l"/>
            <a:pathLst>
              <a:path h="10856902" w="9947636">
                <a:moveTo>
                  <a:pt x="0" y="0"/>
                </a:moveTo>
                <a:lnTo>
                  <a:pt x="9947636" y="0"/>
                </a:lnTo>
                <a:lnTo>
                  <a:pt x="9947636" y="10856902"/>
                </a:lnTo>
                <a:lnTo>
                  <a:pt x="0" y="10856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8281" y="9015915"/>
            <a:ext cx="470419" cy="763318"/>
          </a:xfrm>
          <a:custGeom>
            <a:avLst/>
            <a:gdLst/>
            <a:ahLst/>
            <a:cxnLst/>
            <a:rect r="r" b="b" t="t" l="l"/>
            <a:pathLst>
              <a:path h="763318" w="470419">
                <a:moveTo>
                  <a:pt x="0" y="0"/>
                </a:moveTo>
                <a:lnTo>
                  <a:pt x="470419" y="0"/>
                </a:lnTo>
                <a:lnTo>
                  <a:pt x="470419" y="763318"/>
                </a:lnTo>
                <a:lnTo>
                  <a:pt x="0" y="7633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31265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2556" y="3581415"/>
            <a:ext cx="6618163" cy="1797722"/>
          </a:xfrm>
          <a:custGeom>
            <a:avLst/>
            <a:gdLst/>
            <a:ahLst/>
            <a:cxnLst/>
            <a:rect r="r" b="b" t="t" l="l"/>
            <a:pathLst>
              <a:path h="1797722" w="6618163">
                <a:moveTo>
                  <a:pt x="0" y="0"/>
                </a:moveTo>
                <a:lnTo>
                  <a:pt x="6618164" y="0"/>
                </a:lnTo>
                <a:lnTo>
                  <a:pt x="6618164" y="1797722"/>
                </a:lnTo>
                <a:lnTo>
                  <a:pt x="0" y="17977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2556" y="5550587"/>
            <a:ext cx="4082093" cy="423409"/>
          </a:xfrm>
          <a:custGeom>
            <a:avLst/>
            <a:gdLst/>
            <a:ahLst/>
            <a:cxnLst/>
            <a:rect r="r" b="b" t="t" l="l"/>
            <a:pathLst>
              <a:path h="423409" w="4082093">
                <a:moveTo>
                  <a:pt x="0" y="0"/>
                </a:moveTo>
                <a:lnTo>
                  <a:pt x="4082093" y="0"/>
                </a:lnTo>
                <a:lnTo>
                  <a:pt x="4082093" y="423409"/>
                </a:lnTo>
                <a:lnTo>
                  <a:pt x="0" y="4234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42556" y="6145446"/>
            <a:ext cx="5213863" cy="377520"/>
          </a:xfrm>
          <a:custGeom>
            <a:avLst/>
            <a:gdLst/>
            <a:ahLst/>
            <a:cxnLst/>
            <a:rect r="r" b="b" t="t" l="l"/>
            <a:pathLst>
              <a:path h="377520" w="5213863">
                <a:moveTo>
                  <a:pt x="0" y="0"/>
                </a:moveTo>
                <a:lnTo>
                  <a:pt x="5213863" y="0"/>
                </a:lnTo>
                <a:lnTo>
                  <a:pt x="5213863" y="377520"/>
                </a:lnTo>
                <a:lnTo>
                  <a:pt x="0" y="37752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42556" y="6694416"/>
            <a:ext cx="3427949" cy="374142"/>
          </a:xfrm>
          <a:custGeom>
            <a:avLst/>
            <a:gdLst/>
            <a:ahLst/>
            <a:cxnLst/>
            <a:rect r="r" b="b" t="t" l="l"/>
            <a:pathLst>
              <a:path h="374142" w="3427949">
                <a:moveTo>
                  <a:pt x="0" y="0"/>
                </a:moveTo>
                <a:lnTo>
                  <a:pt x="3427949" y="0"/>
                </a:lnTo>
                <a:lnTo>
                  <a:pt x="3427949" y="374142"/>
                </a:lnTo>
                <a:lnTo>
                  <a:pt x="0" y="37414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2556" y="7240008"/>
            <a:ext cx="6120168" cy="327112"/>
          </a:xfrm>
          <a:custGeom>
            <a:avLst/>
            <a:gdLst/>
            <a:ahLst/>
            <a:cxnLst/>
            <a:rect r="r" b="b" t="t" l="l"/>
            <a:pathLst>
              <a:path h="327112" w="6120168">
                <a:moveTo>
                  <a:pt x="0" y="0"/>
                </a:moveTo>
                <a:lnTo>
                  <a:pt x="6120169" y="0"/>
                </a:lnTo>
                <a:lnTo>
                  <a:pt x="6120169" y="327112"/>
                </a:lnTo>
                <a:lnTo>
                  <a:pt x="0" y="3271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42556" y="7738570"/>
            <a:ext cx="6305587" cy="337799"/>
          </a:xfrm>
          <a:custGeom>
            <a:avLst/>
            <a:gdLst/>
            <a:ahLst/>
            <a:cxnLst/>
            <a:rect r="r" b="b" t="t" l="l"/>
            <a:pathLst>
              <a:path h="337799" w="6305587">
                <a:moveTo>
                  <a:pt x="0" y="0"/>
                </a:moveTo>
                <a:lnTo>
                  <a:pt x="6305587" y="0"/>
                </a:lnTo>
                <a:lnTo>
                  <a:pt x="6305587" y="337800"/>
                </a:lnTo>
                <a:lnTo>
                  <a:pt x="0" y="337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2305880"/>
            <a:ext cx="10855439" cy="6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480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IMPLEMENTAÇÃO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2556" y="3041665"/>
            <a:ext cx="428058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40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recomendacao.py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100000">
            <a:off x="13356027" y="289526"/>
            <a:ext cx="9399159" cy="9375661"/>
          </a:xfrm>
          <a:custGeom>
            <a:avLst/>
            <a:gdLst/>
            <a:ahLst/>
            <a:cxnLst/>
            <a:rect r="r" b="b" t="t" l="l"/>
            <a:pathLst>
              <a:path h="9375661" w="9399159">
                <a:moveTo>
                  <a:pt x="0" y="0"/>
                </a:moveTo>
                <a:lnTo>
                  <a:pt x="9399159" y="0"/>
                </a:lnTo>
                <a:lnTo>
                  <a:pt x="9399159" y="9375661"/>
                </a:lnTo>
                <a:lnTo>
                  <a:pt x="0" y="9375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31768" y="-284951"/>
            <a:ext cx="9947636" cy="10856902"/>
          </a:xfrm>
          <a:custGeom>
            <a:avLst/>
            <a:gdLst/>
            <a:ahLst/>
            <a:cxnLst/>
            <a:rect r="r" b="b" t="t" l="l"/>
            <a:pathLst>
              <a:path h="10856902" w="9947636">
                <a:moveTo>
                  <a:pt x="0" y="0"/>
                </a:moveTo>
                <a:lnTo>
                  <a:pt x="9947636" y="0"/>
                </a:lnTo>
                <a:lnTo>
                  <a:pt x="9947636" y="10856902"/>
                </a:lnTo>
                <a:lnTo>
                  <a:pt x="0" y="10856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8281" y="9015915"/>
            <a:ext cx="470419" cy="763318"/>
          </a:xfrm>
          <a:custGeom>
            <a:avLst/>
            <a:gdLst/>
            <a:ahLst/>
            <a:cxnLst/>
            <a:rect r="r" b="b" t="t" l="l"/>
            <a:pathLst>
              <a:path h="763318" w="470419">
                <a:moveTo>
                  <a:pt x="0" y="0"/>
                </a:moveTo>
                <a:lnTo>
                  <a:pt x="470419" y="0"/>
                </a:lnTo>
                <a:lnTo>
                  <a:pt x="470419" y="763318"/>
                </a:lnTo>
                <a:lnTo>
                  <a:pt x="0" y="7633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31265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2556" y="3028307"/>
            <a:ext cx="8379792" cy="6392028"/>
          </a:xfrm>
          <a:custGeom>
            <a:avLst/>
            <a:gdLst/>
            <a:ahLst/>
            <a:cxnLst/>
            <a:rect r="r" b="b" t="t" l="l"/>
            <a:pathLst>
              <a:path h="6392028" w="8379792">
                <a:moveTo>
                  <a:pt x="0" y="0"/>
                </a:moveTo>
                <a:lnTo>
                  <a:pt x="8379792" y="0"/>
                </a:lnTo>
                <a:lnTo>
                  <a:pt x="8379792" y="6392028"/>
                </a:lnTo>
                <a:lnTo>
                  <a:pt x="0" y="63920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2556" y="2237450"/>
            <a:ext cx="5190547" cy="310915"/>
          </a:xfrm>
          <a:custGeom>
            <a:avLst/>
            <a:gdLst/>
            <a:ahLst/>
            <a:cxnLst/>
            <a:rect r="r" b="b" t="t" l="l"/>
            <a:pathLst>
              <a:path h="310915" w="5190547">
                <a:moveTo>
                  <a:pt x="0" y="0"/>
                </a:moveTo>
                <a:lnTo>
                  <a:pt x="5190547" y="0"/>
                </a:lnTo>
                <a:lnTo>
                  <a:pt x="5190547" y="310914"/>
                </a:lnTo>
                <a:lnTo>
                  <a:pt x="0" y="3109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42556" y="2643241"/>
            <a:ext cx="7619820" cy="290190"/>
          </a:xfrm>
          <a:custGeom>
            <a:avLst/>
            <a:gdLst/>
            <a:ahLst/>
            <a:cxnLst/>
            <a:rect r="r" b="b" t="t" l="l"/>
            <a:pathLst>
              <a:path h="290190" w="7619820">
                <a:moveTo>
                  <a:pt x="0" y="0"/>
                </a:moveTo>
                <a:lnTo>
                  <a:pt x="7619820" y="0"/>
                </a:lnTo>
                <a:lnTo>
                  <a:pt x="7619820" y="290190"/>
                </a:lnTo>
                <a:lnTo>
                  <a:pt x="0" y="29019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961915"/>
            <a:ext cx="10855439" cy="6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480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IMPLEMENTAÇÃO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2556" y="1697700"/>
            <a:ext cx="428058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40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main.py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100000">
            <a:off x="13356027" y="289526"/>
            <a:ext cx="9399159" cy="9375661"/>
          </a:xfrm>
          <a:custGeom>
            <a:avLst/>
            <a:gdLst/>
            <a:ahLst/>
            <a:cxnLst/>
            <a:rect r="r" b="b" t="t" l="l"/>
            <a:pathLst>
              <a:path h="9375661" w="9399159">
                <a:moveTo>
                  <a:pt x="0" y="0"/>
                </a:moveTo>
                <a:lnTo>
                  <a:pt x="9399159" y="0"/>
                </a:lnTo>
                <a:lnTo>
                  <a:pt x="9399159" y="9375661"/>
                </a:lnTo>
                <a:lnTo>
                  <a:pt x="0" y="9375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31768" y="-284951"/>
            <a:ext cx="9947636" cy="10856902"/>
          </a:xfrm>
          <a:custGeom>
            <a:avLst/>
            <a:gdLst/>
            <a:ahLst/>
            <a:cxnLst/>
            <a:rect r="r" b="b" t="t" l="l"/>
            <a:pathLst>
              <a:path h="10856902" w="9947636">
                <a:moveTo>
                  <a:pt x="0" y="0"/>
                </a:moveTo>
                <a:lnTo>
                  <a:pt x="9947636" y="0"/>
                </a:lnTo>
                <a:lnTo>
                  <a:pt x="9947636" y="10856902"/>
                </a:lnTo>
                <a:lnTo>
                  <a:pt x="0" y="10856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109427"/>
            <a:ext cx="11631136" cy="3770533"/>
          </a:xfrm>
          <a:custGeom>
            <a:avLst/>
            <a:gdLst/>
            <a:ahLst/>
            <a:cxnLst/>
            <a:rect r="r" b="b" t="t" l="l"/>
            <a:pathLst>
              <a:path h="3770533" w="11631136">
                <a:moveTo>
                  <a:pt x="0" y="0"/>
                </a:moveTo>
                <a:lnTo>
                  <a:pt x="11631136" y="0"/>
                </a:lnTo>
                <a:lnTo>
                  <a:pt x="11631136" y="3770532"/>
                </a:lnTo>
                <a:lnTo>
                  <a:pt x="0" y="37705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6026294"/>
            <a:ext cx="11814374" cy="3232006"/>
          </a:xfrm>
          <a:custGeom>
            <a:avLst/>
            <a:gdLst/>
            <a:ahLst/>
            <a:cxnLst/>
            <a:rect r="r" b="b" t="t" l="l"/>
            <a:pathLst>
              <a:path h="3232006" w="11814374">
                <a:moveTo>
                  <a:pt x="0" y="0"/>
                </a:moveTo>
                <a:lnTo>
                  <a:pt x="11814374" y="0"/>
                </a:lnTo>
                <a:lnTo>
                  <a:pt x="11814374" y="3232006"/>
                </a:lnTo>
                <a:lnTo>
                  <a:pt x="0" y="32320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123950"/>
            <a:ext cx="13317419" cy="6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4800">
                <a:solidFill>
                  <a:srgbClr val="023A8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EXEMPLO DE ENTRADA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100000">
            <a:off x="13356027" y="289526"/>
            <a:ext cx="9399159" cy="9375661"/>
          </a:xfrm>
          <a:custGeom>
            <a:avLst/>
            <a:gdLst/>
            <a:ahLst/>
            <a:cxnLst/>
            <a:rect r="r" b="b" t="t" l="l"/>
            <a:pathLst>
              <a:path h="9375661" w="9399159">
                <a:moveTo>
                  <a:pt x="0" y="0"/>
                </a:moveTo>
                <a:lnTo>
                  <a:pt x="9399159" y="0"/>
                </a:lnTo>
                <a:lnTo>
                  <a:pt x="9399159" y="9375661"/>
                </a:lnTo>
                <a:lnTo>
                  <a:pt x="0" y="9375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31768" y="-284951"/>
            <a:ext cx="9947636" cy="10856902"/>
          </a:xfrm>
          <a:custGeom>
            <a:avLst/>
            <a:gdLst/>
            <a:ahLst/>
            <a:cxnLst/>
            <a:rect r="r" b="b" t="t" l="l"/>
            <a:pathLst>
              <a:path h="10856902" w="9947636">
                <a:moveTo>
                  <a:pt x="0" y="0"/>
                </a:moveTo>
                <a:lnTo>
                  <a:pt x="9947636" y="0"/>
                </a:lnTo>
                <a:lnTo>
                  <a:pt x="9947636" y="10856902"/>
                </a:lnTo>
                <a:lnTo>
                  <a:pt x="0" y="10856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3248" y="2503625"/>
            <a:ext cx="11434053" cy="6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4800">
                <a:solidFill>
                  <a:srgbClr val="023A8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EXEMPLO DE SAÍDA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3248" y="3526337"/>
            <a:ext cx="16236052" cy="4393882"/>
          </a:xfrm>
          <a:custGeom>
            <a:avLst/>
            <a:gdLst/>
            <a:ahLst/>
            <a:cxnLst/>
            <a:rect r="r" b="b" t="t" l="l"/>
            <a:pathLst>
              <a:path h="4393882" w="16236052">
                <a:moveTo>
                  <a:pt x="0" y="0"/>
                </a:moveTo>
                <a:lnTo>
                  <a:pt x="16236052" y="0"/>
                </a:lnTo>
                <a:lnTo>
                  <a:pt x="16236052" y="4393882"/>
                </a:lnTo>
                <a:lnTo>
                  <a:pt x="0" y="43938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100000">
            <a:off x="13356027" y="289526"/>
            <a:ext cx="9399159" cy="9375661"/>
          </a:xfrm>
          <a:custGeom>
            <a:avLst/>
            <a:gdLst/>
            <a:ahLst/>
            <a:cxnLst/>
            <a:rect r="r" b="b" t="t" l="l"/>
            <a:pathLst>
              <a:path h="9375661" w="9399159">
                <a:moveTo>
                  <a:pt x="0" y="0"/>
                </a:moveTo>
                <a:lnTo>
                  <a:pt x="9399159" y="0"/>
                </a:lnTo>
                <a:lnTo>
                  <a:pt x="9399159" y="9375661"/>
                </a:lnTo>
                <a:lnTo>
                  <a:pt x="0" y="9375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8658894"/>
            <a:ext cx="551594" cy="895036"/>
          </a:xfrm>
          <a:custGeom>
            <a:avLst/>
            <a:gdLst/>
            <a:ahLst/>
            <a:cxnLst/>
            <a:rect r="r" b="b" t="t" l="l"/>
            <a:pathLst>
              <a:path h="895036" w="551594">
                <a:moveTo>
                  <a:pt x="0" y="0"/>
                </a:moveTo>
                <a:lnTo>
                  <a:pt x="551594" y="0"/>
                </a:lnTo>
                <a:lnTo>
                  <a:pt x="551594" y="895036"/>
                </a:lnTo>
                <a:lnTo>
                  <a:pt x="0" y="8950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31265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3162969"/>
          <a:ext cx="16230600" cy="5133975"/>
        </p:xfrm>
        <a:graphic>
          <a:graphicData uri="http://schemas.openxmlformats.org/drawingml/2006/table">
            <a:tbl>
              <a:tblPr/>
              <a:tblGrid>
                <a:gridCol w="7971486"/>
                <a:gridCol w="8259114"/>
              </a:tblGrid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Operação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A8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Complexidade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A83"/>
                    </a:solidFill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Vetorização TF-IDF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O(N * M) - N docs, M termos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Busca BFS Vizinhos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O(V + 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Similaridade Cosseno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O(M) por par de documentos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Ranking Top-K (Heap)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O(L log K) - L candidatos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23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00" y="2094831"/>
            <a:ext cx="13826181" cy="709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5366">
                <a:solidFill>
                  <a:srgbClr val="023A8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ANÁLISE DE COMPLEXIDADE (BIG O)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100000">
            <a:off x="13356027" y="289526"/>
            <a:ext cx="9399159" cy="9375661"/>
          </a:xfrm>
          <a:custGeom>
            <a:avLst/>
            <a:gdLst/>
            <a:ahLst/>
            <a:cxnLst/>
            <a:rect r="r" b="b" t="t" l="l"/>
            <a:pathLst>
              <a:path h="9375661" w="9399159">
                <a:moveTo>
                  <a:pt x="0" y="0"/>
                </a:moveTo>
                <a:lnTo>
                  <a:pt x="9399159" y="0"/>
                </a:lnTo>
                <a:lnTo>
                  <a:pt x="9399159" y="9375661"/>
                </a:lnTo>
                <a:lnTo>
                  <a:pt x="0" y="9375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31768" y="-284951"/>
            <a:ext cx="9947636" cy="10856902"/>
          </a:xfrm>
          <a:custGeom>
            <a:avLst/>
            <a:gdLst/>
            <a:ahLst/>
            <a:cxnLst/>
            <a:rect r="r" b="b" t="t" l="l"/>
            <a:pathLst>
              <a:path h="10856902" w="9947636">
                <a:moveTo>
                  <a:pt x="0" y="0"/>
                </a:moveTo>
                <a:lnTo>
                  <a:pt x="9947636" y="0"/>
                </a:lnTo>
                <a:lnTo>
                  <a:pt x="9947636" y="10856902"/>
                </a:lnTo>
                <a:lnTo>
                  <a:pt x="0" y="10856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658894"/>
            <a:ext cx="551594" cy="895036"/>
          </a:xfrm>
          <a:custGeom>
            <a:avLst/>
            <a:gdLst/>
            <a:ahLst/>
            <a:cxnLst/>
            <a:rect r="r" b="b" t="t" l="l"/>
            <a:pathLst>
              <a:path h="895036" w="551594">
                <a:moveTo>
                  <a:pt x="0" y="0"/>
                </a:moveTo>
                <a:lnTo>
                  <a:pt x="551594" y="0"/>
                </a:lnTo>
                <a:lnTo>
                  <a:pt x="551594" y="895036"/>
                </a:lnTo>
                <a:lnTo>
                  <a:pt x="0" y="8950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31265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4188458"/>
            <a:ext cx="5297961" cy="3086100"/>
            <a:chOff x="0" y="0"/>
            <a:chExt cx="1395348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95348" cy="812800"/>
            </a:xfrm>
            <a:custGeom>
              <a:avLst/>
              <a:gdLst/>
              <a:ahLst/>
              <a:cxnLst/>
              <a:rect r="r" b="b" t="t" l="l"/>
              <a:pathLst>
                <a:path h="812800" w="1395348">
                  <a:moveTo>
                    <a:pt x="23381" y="0"/>
                  </a:moveTo>
                  <a:lnTo>
                    <a:pt x="1371967" y="0"/>
                  </a:lnTo>
                  <a:cubicBezTo>
                    <a:pt x="1378168" y="0"/>
                    <a:pt x="1384115" y="2463"/>
                    <a:pt x="1388500" y="6848"/>
                  </a:cubicBezTo>
                  <a:cubicBezTo>
                    <a:pt x="1392884" y="11233"/>
                    <a:pt x="1395348" y="17180"/>
                    <a:pt x="1395348" y="23381"/>
                  </a:cubicBezTo>
                  <a:lnTo>
                    <a:pt x="1395348" y="789419"/>
                  </a:lnTo>
                  <a:cubicBezTo>
                    <a:pt x="1395348" y="802332"/>
                    <a:pt x="1384880" y="812800"/>
                    <a:pt x="1371967" y="812800"/>
                  </a:cubicBezTo>
                  <a:lnTo>
                    <a:pt x="23381" y="812800"/>
                  </a:lnTo>
                  <a:cubicBezTo>
                    <a:pt x="10468" y="812800"/>
                    <a:pt x="0" y="802332"/>
                    <a:pt x="0" y="789419"/>
                  </a:cubicBezTo>
                  <a:lnTo>
                    <a:pt x="0" y="23381"/>
                  </a:lnTo>
                  <a:cubicBezTo>
                    <a:pt x="0" y="10468"/>
                    <a:pt x="10468" y="0"/>
                    <a:pt x="23381" y="0"/>
                  </a:cubicBezTo>
                  <a:close/>
                </a:path>
              </a:pathLst>
            </a:custGeom>
            <a:solidFill>
              <a:srgbClr val="023A8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395348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2773719"/>
            <a:ext cx="13826181" cy="709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5366">
                <a:solidFill>
                  <a:srgbClr val="023A8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ANÁLISE DOS RESULTADOS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495020" y="4188458"/>
            <a:ext cx="5297961" cy="3086100"/>
            <a:chOff x="0" y="0"/>
            <a:chExt cx="1395348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95348" cy="812800"/>
            </a:xfrm>
            <a:custGeom>
              <a:avLst/>
              <a:gdLst/>
              <a:ahLst/>
              <a:cxnLst/>
              <a:rect r="r" b="b" t="t" l="l"/>
              <a:pathLst>
                <a:path h="812800" w="1395348">
                  <a:moveTo>
                    <a:pt x="23381" y="0"/>
                  </a:moveTo>
                  <a:lnTo>
                    <a:pt x="1371967" y="0"/>
                  </a:lnTo>
                  <a:cubicBezTo>
                    <a:pt x="1378168" y="0"/>
                    <a:pt x="1384115" y="2463"/>
                    <a:pt x="1388500" y="6848"/>
                  </a:cubicBezTo>
                  <a:cubicBezTo>
                    <a:pt x="1392884" y="11233"/>
                    <a:pt x="1395348" y="17180"/>
                    <a:pt x="1395348" y="23381"/>
                  </a:cubicBezTo>
                  <a:lnTo>
                    <a:pt x="1395348" y="789419"/>
                  </a:lnTo>
                  <a:cubicBezTo>
                    <a:pt x="1395348" y="802332"/>
                    <a:pt x="1384880" y="812800"/>
                    <a:pt x="1371967" y="812800"/>
                  </a:cubicBezTo>
                  <a:lnTo>
                    <a:pt x="23381" y="812800"/>
                  </a:lnTo>
                  <a:cubicBezTo>
                    <a:pt x="10468" y="812800"/>
                    <a:pt x="0" y="802332"/>
                    <a:pt x="0" y="789419"/>
                  </a:cubicBezTo>
                  <a:lnTo>
                    <a:pt x="0" y="23381"/>
                  </a:lnTo>
                  <a:cubicBezTo>
                    <a:pt x="0" y="10468"/>
                    <a:pt x="10468" y="0"/>
                    <a:pt x="23381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395348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961339" y="4188458"/>
            <a:ext cx="5297961" cy="3086100"/>
            <a:chOff x="0" y="0"/>
            <a:chExt cx="1395348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95348" cy="812800"/>
            </a:xfrm>
            <a:custGeom>
              <a:avLst/>
              <a:gdLst/>
              <a:ahLst/>
              <a:cxnLst/>
              <a:rect r="r" b="b" t="t" l="l"/>
              <a:pathLst>
                <a:path h="812800" w="1395348">
                  <a:moveTo>
                    <a:pt x="23381" y="0"/>
                  </a:moveTo>
                  <a:lnTo>
                    <a:pt x="1371967" y="0"/>
                  </a:lnTo>
                  <a:cubicBezTo>
                    <a:pt x="1378168" y="0"/>
                    <a:pt x="1384115" y="2463"/>
                    <a:pt x="1388500" y="6848"/>
                  </a:cubicBezTo>
                  <a:cubicBezTo>
                    <a:pt x="1392884" y="11233"/>
                    <a:pt x="1395348" y="17180"/>
                    <a:pt x="1395348" y="23381"/>
                  </a:cubicBezTo>
                  <a:lnTo>
                    <a:pt x="1395348" y="789419"/>
                  </a:lnTo>
                  <a:cubicBezTo>
                    <a:pt x="1395348" y="802332"/>
                    <a:pt x="1384880" y="812800"/>
                    <a:pt x="1371967" y="812800"/>
                  </a:cubicBezTo>
                  <a:lnTo>
                    <a:pt x="23381" y="812800"/>
                  </a:lnTo>
                  <a:cubicBezTo>
                    <a:pt x="10468" y="812800"/>
                    <a:pt x="0" y="802332"/>
                    <a:pt x="0" y="789419"/>
                  </a:cubicBezTo>
                  <a:lnTo>
                    <a:pt x="0" y="23381"/>
                  </a:lnTo>
                  <a:cubicBezTo>
                    <a:pt x="0" y="10468"/>
                    <a:pt x="10468" y="0"/>
                    <a:pt x="23381" y="0"/>
                  </a:cubicBezTo>
                  <a:close/>
                </a:path>
              </a:pathLst>
            </a:custGeom>
            <a:solidFill>
              <a:srgbClr val="5078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395348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50662" y="4747575"/>
            <a:ext cx="4454036" cy="1901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EAF5FA"/>
                </a:solidFill>
                <a:latin typeface="Poppins Bold"/>
                <a:ea typeface="Poppins Bold"/>
                <a:cs typeface="Poppins Bold"/>
                <a:sym typeface="Poppins Bold"/>
              </a:rPr>
              <a:t>Precisão</a:t>
            </a:r>
          </a:p>
          <a:p>
            <a:pPr algn="ctr">
              <a:lnSpc>
                <a:spcPts val="1728"/>
              </a:lnSpc>
            </a:pP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EAF5FA"/>
                </a:solidFill>
                <a:latin typeface="Poppins"/>
                <a:ea typeface="Poppins"/>
                <a:cs typeface="Poppins"/>
                <a:sym typeface="Poppins"/>
              </a:rPr>
              <a:t>Alta capacidade de capturar relações semânticas complexas entre textos.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16982" y="4538025"/>
            <a:ext cx="4454036" cy="2320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EAF5FA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400">
                <a:solidFill>
                  <a:srgbClr val="EAF5FA"/>
                </a:solidFill>
                <a:latin typeface="Poppins Bold"/>
                <a:ea typeface="Poppins Bold"/>
                <a:cs typeface="Poppins Bold"/>
                <a:sym typeface="Poppins Bold"/>
              </a:rPr>
              <a:t>scalabilidade</a:t>
            </a:r>
          </a:p>
          <a:p>
            <a:pPr algn="ctr">
              <a:lnSpc>
                <a:spcPts val="1728"/>
              </a:lnSpc>
            </a:pP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EAF5FA"/>
                </a:solidFill>
                <a:latin typeface="Poppins"/>
                <a:ea typeface="Poppins"/>
                <a:cs typeface="Poppins"/>
                <a:sym typeface="Poppins"/>
              </a:rPr>
              <a:t>Estruturas esparsas permitem rodar em grandes acervos com baixo overhead.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83302" y="4747575"/>
            <a:ext cx="4454036" cy="1901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EAF5FA"/>
                </a:solidFill>
                <a:latin typeface="Poppins Bold"/>
                <a:ea typeface="Poppins Bold"/>
                <a:cs typeface="Poppins Bold"/>
                <a:sym typeface="Poppins Bold"/>
              </a:rPr>
              <a:t>Ad</a:t>
            </a:r>
            <a:r>
              <a:rPr lang="en-US" b="true" sz="2400">
                <a:solidFill>
                  <a:srgbClr val="EAF5FA"/>
                </a:solidFill>
                <a:latin typeface="Poppins Bold"/>
                <a:ea typeface="Poppins Bold"/>
                <a:cs typeface="Poppins Bold"/>
                <a:sym typeface="Poppins Bold"/>
              </a:rPr>
              <a:t>aptabilidade</a:t>
            </a:r>
          </a:p>
          <a:p>
            <a:pPr algn="ctr">
              <a:lnSpc>
                <a:spcPts val="1728"/>
              </a:lnSpc>
            </a:pP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EAF5FA"/>
                </a:solidFill>
                <a:latin typeface="Poppins"/>
                <a:ea typeface="Poppins"/>
                <a:cs typeface="Poppins"/>
                <a:sym typeface="Poppins"/>
              </a:rPr>
              <a:t>O si</a:t>
            </a:r>
            <a:r>
              <a:rPr lang="en-US" sz="2400">
                <a:solidFill>
                  <a:srgbClr val="EAF5FA"/>
                </a:solidFill>
                <a:latin typeface="Poppins"/>
                <a:ea typeface="Poppins"/>
                <a:cs typeface="Poppins"/>
                <a:sym typeface="Poppins"/>
              </a:rPr>
              <a:t>stema se auto-ajusta conforme novas arestas são adicionadas ao grafo.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100000">
            <a:off x="13356027" y="289526"/>
            <a:ext cx="9399159" cy="9375661"/>
          </a:xfrm>
          <a:custGeom>
            <a:avLst/>
            <a:gdLst/>
            <a:ahLst/>
            <a:cxnLst/>
            <a:rect r="r" b="b" t="t" l="l"/>
            <a:pathLst>
              <a:path h="9375661" w="9399159">
                <a:moveTo>
                  <a:pt x="0" y="0"/>
                </a:moveTo>
                <a:lnTo>
                  <a:pt x="9399159" y="0"/>
                </a:lnTo>
                <a:lnTo>
                  <a:pt x="9399159" y="9375661"/>
                </a:lnTo>
                <a:lnTo>
                  <a:pt x="0" y="9375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31768" y="-284951"/>
            <a:ext cx="9947636" cy="10856902"/>
          </a:xfrm>
          <a:custGeom>
            <a:avLst/>
            <a:gdLst/>
            <a:ahLst/>
            <a:cxnLst/>
            <a:rect r="r" b="b" t="t" l="l"/>
            <a:pathLst>
              <a:path h="10856902" w="9947636">
                <a:moveTo>
                  <a:pt x="0" y="0"/>
                </a:moveTo>
                <a:lnTo>
                  <a:pt x="9947636" y="0"/>
                </a:lnTo>
                <a:lnTo>
                  <a:pt x="9947636" y="10856902"/>
                </a:lnTo>
                <a:lnTo>
                  <a:pt x="0" y="10856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658894"/>
            <a:ext cx="551594" cy="895036"/>
          </a:xfrm>
          <a:custGeom>
            <a:avLst/>
            <a:gdLst/>
            <a:ahLst/>
            <a:cxnLst/>
            <a:rect r="r" b="b" t="t" l="l"/>
            <a:pathLst>
              <a:path h="895036" w="551594">
                <a:moveTo>
                  <a:pt x="0" y="0"/>
                </a:moveTo>
                <a:lnTo>
                  <a:pt x="551594" y="0"/>
                </a:lnTo>
                <a:lnTo>
                  <a:pt x="551594" y="895036"/>
                </a:lnTo>
                <a:lnTo>
                  <a:pt x="0" y="8950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31265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642321"/>
            <a:ext cx="7810920" cy="709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5366">
                <a:solidFill>
                  <a:srgbClr val="023A8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APOIO DE IA E LLMS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4497" y="3835437"/>
            <a:ext cx="6812436" cy="3515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9">
                <a:solidFill>
                  <a:srgbClr val="023A83"/>
                </a:solidFill>
                <a:latin typeface="Poppins Bold"/>
                <a:ea typeface="Poppins Bold"/>
                <a:cs typeface="Poppins Bold"/>
                <a:sym typeface="Poppins Bold"/>
              </a:rPr>
              <a:t>Impl</a:t>
            </a:r>
            <a:r>
              <a:rPr lang="en-US" b="true" sz="2199">
                <a:solidFill>
                  <a:srgbClr val="023A83"/>
                </a:solidFill>
                <a:latin typeface="Poppins Bold"/>
                <a:ea typeface="Poppins Bold"/>
                <a:cs typeface="Poppins Bold"/>
                <a:sym typeface="Poppins Bold"/>
              </a:rPr>
              <a:t>ementação:</a:t>
            </a:r>
            <a:r>
              <a:rPr lang="en-US" sz="2199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 Auxílio na escrita de métodos eficientes em Python idiomático.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9">
                <a:solidFill>
                  <a:srgbClr val="023A83"/>
                </a:solidFill>
                <a:latin typeface="Poppins Bold"/>
                <a:ea typeface="Poppins Bold"/>
                <a:cs typeface="Poppins Bold"/>
                <a:sym typeface="Poppins Bold"/>
              </a:rPr>
              <a:t>Teoria: </a:t>
            </a:r>
            <a:r>
              <a:rPr lang="en-US" sz="2199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Esclarecimento de conceitos matemáticos de Álgebra Linear aplicada a PLN.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9">
                <a:solidFill>
                  <a:srgbClr val="023A83"/>
                </a:solidFill>
                <a:latin typeface="Poppins Bold"/>
                <a:ea typeface="Poppins Bold"/>
                <a:cs typeface="Poppins Bold"/>
                <a:sym typeface="Poppins Bold"/>
              </a:rPr>
              <a:t>Testes: </a:t>
            </a:r>
            <a:r>
              <a:rPr lang="en-US" sz="2199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Geração automatizada de cenários de borda para validação do ranking.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9">
                <a:solidFill>
                  <a:srgbClr val="023A83"/>
                </a:solidFill>
                <a:latin typeface="Poppins Bold"/>
                <a:ea typeface="Poppins Bold"/>
                <a:cs typeface="Poppins Bold"/>
                <a:sym typeface="Poppins Bold"/>
              </a:rPr>
              <a:t>Documentação: </a:t>
            </a:r>
            <a:r>
              <a:rPr lang="en-US" sz="2199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Revisão gramatical e estruturação profissional da apresentação.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100000">
            <a:off x="13356027" y="289526"/>
            <a:ext cx="9399159" cy="9375661"/>
          </a:xfrm>
          <a:custGeom>
            <a:avLst/>
            <a:gdLst/>
            <a:ahLst/>
            <a:cxnLst/>
            <a:rect r="r" b="b" t="t" l="l"/>
            <a:pathLst>
              <a:path h="9375661" w="9399159">
                <a:moveTo>
                  <a:pt x="0" y="0"/>
                </a:moveTo>
                <a:lnTo>
                  <a:pt x="9399159" y="0"/>
                </a:lnTo>
                <a:lnTo>
                  <a:pt x="9399159" y="9375661"/>
                </a:lnTo>
                <a:lnTo>
                  <a:pt x="0" y="9375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39612" y="-284951"/>
            <a:ext cx="9947636" cy="10856902"/>
          </a:xfrm>
          <a:custGeom>
            <a:avLst/>
            <a:gdLst/>
            <a:ahLst/>
            <a:cxnLst/>
            <a:rect r="r" b="b" t="t" l="l"/>
            <a:pathLst>
              <a:path h="10856902" w="9947636">
                <a:moveTo>
                  <a:pt x="0" y="0"/>
                </a:moveTo>
                <a:lnTo>
                  <a:pt x="9947636" y="0"/>
                </a:lnTo>
                <a:lnTo>
                  <a:pt x="9947636" y="10856902"/>
                </a:lnTo>
                <a:lnTo>
                  <a:pt x="0" y="10856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548431"/>
            <a:ext cx="13262270" cy="101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87"/>
              </a:lnSpc>
            </a:pPr>
            <a:r>
              <a:rPr lang="en-US" sz="7664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MUITO OBRIGADO!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662215"/>
            <a:ext cx="5112577" cy="200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274" b="true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Grupo 15:</a:t>
            </a:r>
          </a:p>
          <a:p>
            <a:pPr algn="l">
              <a:lnSpc>
                <a:spcPts val="3184"/>
              </a:lnSpc>
            </a:pPr>
            <a:r>
              <a:rPr lang="en-US" sz="227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Alan</a:t>
            </a:r>
          </a:p>
          <a:p>
            <a:pPr algn="l">
              <a:lnSpc>
                <a:spcPts val="3184"/>
              </a:lnSpc>
            </a:pPr>
            <a:r>
              <a:rPr lang="en-US" sz="227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Esther Sena</a:t>
            </a:r>
          </a:p>
          <a:p>
            <a:pPr algn="l">
              <a:lnSpc>
                <a:spcPts val="3184"/>
              </a:lnSpc>
            </a:pPr>
            <a:r>
              <a:rPr lang="en-US" sz="227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Nicole Jovita</a:t>
            </a:r>
          </a:p>
          <a:p>
            <a:pPr algn="l">
              <a:lnSpc>
                <a:spcPts val="3184"/>
              </a:lnSpc>
              <a:spcBef>
                <a:spcPct val="0"/>
              </a:spcBef>
            </a:pPr>
            <a:r>
              <a:rPr lang="en-US" sz="227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Yasmim de Souza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047750"/>
            <a:ext cx="7814088" cy="44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3040" spc="-60" b="true">
                <a:solidFill>
                  <a:srgbClr val="004AA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Estruturas de Dados 2 - Tema 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DAHNVq1DNac</dc:identifier>
  <dcterms:modified xsi:type="dcterms:W3CDTF">2011-08-01T06:04:30Z</dcterms:modified>
  <cp:revision>1</cp:revision>
  <dc:title>Sistema de recomendação de redações</dc:title>
</cp:coreProperties>
</file>